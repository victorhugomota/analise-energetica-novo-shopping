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1.xml" ContentType="application/vnd.openxmlformats-officedocument.presentationml.notesSlide+xml"/>
  <Override PartName="/ppt/charts/chart5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Economia Anual (R$ mil)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0,65</c:v>
                </c:pt>
                <c:pt idx="1">
                  <c:v>0,75</c:v>
                </c:pt>
                <c:pt idx="2">
                  <c:v>0,85</c:v>
                </c:pt>
                <c:pt idx="3">
                  <c:v>1,00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141.5</c:v>
                </c:pt>
                <c:pt idx="1">
                  <c:v>163.30000000000001</c:v>
                </c:pt>
                <c:pt idx="2">
                  <c:v>185</c:v>
                </c:pt>
                <c:pt idx="3">
                  <c:v>217.7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E6A-4C3B-9607-A21C9BDC018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472"/>
                </a:solidFill>
                <a:latin typeface="Arial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472"/>
                </a:solidFill>
                <a:latin typeface="Arial"/>
              </a:defRPr>
            </a:pPr>
            <a:endParaRPr lang="pt-B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Economia Anual (R$ mil)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30%</c:v>
                </c:pt>
                <c:pt idx="1">
                  <c:v>40%</c:v>
                </c:pt>
                <c:pt idx="2">
                  <c:v>50% (padrão)</c:v>
                </c:pt>
                <c:pt idx="3">
                  <c:v>60%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435.4</c:v>
                </c:pt>
                <c:pt idx="1">
                  <c:v>326.5</c:v>
                </c:pt>
                <c:pt idx="2">
                  <c:v>217.7</c:v>
                </c:pt>
                <c:pt idx="3">
                  <c:v>108.8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B01-4E49-AE8C-6974100D115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472"/>
                </a:solidFill>
                <a:latin typeface="Arial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472"/>
                </a:solidFill>
                <a:latin typeface="Arial"/>
              </a:defRPr>
            </a:pPr>
            <a:endParaRPr lang="pt-B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kWh/mês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BC6-454D-ADFC-B3DCA8CFA418}"/>
              </c:ext>
            </c:extLst>
          </c:dPt>
          <c:dPt>
            <c:idx val="1"/>
            <c:invertIfNegative val="0"/>
            <c:bubble3D val="0"/>
            <c:spPr>
              <a:solidFill>
                <a:srgbClr val="00A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BC6-454D-ADFC-B3DCA8CFA418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Antes</c:v>
                </c:pt>
                <c:pt idx="1">
                  <c:v>Com CLP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237000</c:v>
                </c:pt>
                <c:pt idx="1">
                  <c:v>218859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BC6-454D-ADFC-B3DCA8CFA41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472"/>
                </a:solidFill>
                <a:latin typeface="Arial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472"/>
                </a:solidFill>
                <a:latin typeface="Arial"/>
              </a:defRPr>
            </a:pPr>
            <a:endParaRPr lang="pt-B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R$/ano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28E-4C1E-BBF3-9FAB6423CDD5}"/>
              </c:ext>
            </c:extLst>
          </c:dPt>
          <c:dPt>
            <c:idx val="1"/>
            <c:invertIfNegative val="0"/>
            <c:bubble3D val="0"/>
            <c:spPr>
              <a:solidFill>
                <a:srgbClr val="00A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28E-4C1E-BBF3-9FAB6423CDD5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Antes</c:v>
                </c:pt>
                <c:pt idx="1">
                  <c:v>Com CLP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2132999.5699999998</c:v>
                </c:pt>
                <c:pt idx="1">
                  <c:v>1969734.75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28E-4C1E-BBF3-9FAB6423CDD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472"/>
                </a:solidFill>
                <a:latin typeface="Arial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472"/>
                </a:solidFill>
                <a:latin typeface="Arial"/>
              </a:defRPr>
            </a:pPr>
            <a:endParaRPr lang="pt-B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Fluxo de Caixa Acumulado (R$)</c:v>
                </c:pt>
              </c:strCache>
            </c:strRef>
          </c:tx>
          <c:spPr>
            <a:ln w="38100" cap="flat">
              <a:solidFill>
                <a:srgbClr val="02809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28090"/>
              </a:solidFill>
              <a:ln w="9525" cap="flat">
                <a:solidFill>
                  <a:srgbClr val="028090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Mês 0</c:v>
                </c:pt>
                <c:pt idx="1">
                  <c:v>Mês 6</c:v>
                </c:pt>
                <c:pt idx="2">
                  <c:v>Mês 12</c:v>
                </c:pt>
                <c:pt idx="3">
                  <c:v>Mês 16,6</c:v>
                </c:pt>
                <c:pt idx="4">
                  <c:v>Mês 24</c:v>
                </c:pt>
                <c:pt idx="5">
                  <c:v>Mês 36</c:v>
                </c:pt>
                <c:pt idx="6">
                  <c:v>Mês 48</c:v>
                </c:pt>
                <c:pt idx="7">
                  <c:v>Mês 60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-301000</c:v>
                </c:pt>
                <c:pt idx="1">
                  <c:v>-192156.82</c:v>
                </c:pt>
                <c:pt idx="2">
                  <c:v>-83313.64</c:v>
                </c:pt>
                <c:pt idx="3">
                  <c:v>0</c:v>
                </c:pt>
                <c:pt idx="4">
                  <c:v>134372.72</c:v>
                </c:pt>
                <c:pt idx="5">
                  <c:v>352059.08</c:v>
                </c:pt>
                <c:pt idx="6">
                  <c:v>569745.43999999994</c:v>
                </c:pt>
                <c:pt idx="7">
                  <c:v>787432.1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49B-4796-8495-AC12A673BB4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472"/>
                </a:solidFill>
                <a:latin typeface="Arial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472"/>
                </a:solidFill>
                <a:latin typeface="Arial"/>
              </a:defRPr>
            </a:pPr>
            <a:endParaRPr lang="pt-B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73644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303520" cy="5303520"/>
          </a:xfrm>
          <a:prstGeom prst="ellipse">
            <a:avLst/>
          </a:prstGeom>
          <a:solidFill>
            <a:srgbClr val="141B4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332720" y="4297680"/>
            <a:ext cx="3291840" cy="329184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-1280160" y="5120640"/>
            <a:ext cx="2926080" cy="2926080"/>
          </a:xfrm>
          <a:prstGeom prst="ellipse">
            <a:avLst/>
          </a:prstGeom>
          <a:solidFill>
            <a:srgbClr val="141B4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822960" y="196596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ESTUDO DE VIABILIDADE TÉCNICA E ECONÔMICA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do Sistema de Climatização (HVAC) — Automação e Gerenciamento Inteligente por CLP em 38 Equipamentos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977640"/>
            <a:ext cx="2194560" cy="0"/>
          </a:xfrm>
          <a:prstGeom prst="line">
            <a:avLst/>
          </a:prstGeom>
          <a:noFill/>
          <a:ln w="38100">
            <a:solidFill>
              <a:srgbClr val="00A89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822960" y="425196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Cliente: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Center — Setor de Engenharia e Manutenção
</a:t>
            </a: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Elaboração Técnica: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Ar Condicionado — Engenharia Térmica &amp; Automação Industrial
</a:t>
            </a: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 Técnico: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Victor Hugo Mota de Almeida
</a:t>
            </a: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/ Data: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Ribeirão Preto / SP — Agosto de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Resumo Executivo &amp; Principais Indicadores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de 38 climatizadores com automação inteligente por CLP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40080" y="1527048"/>
            <a:ext cx="233172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R$ 301.000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69464"/>
            <a:ext cx="2331720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 Total (CAPEX)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41732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3410712" y="1527048"/>
            <a:ext cx="233172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t>R$ 163.264 /ano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10712" y="2569464"/>
            <a:ext cx="2331720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Anual Recorrente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89904" y="141732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181344" y="1527048"/>
            <a:ext cx="233172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10,2 %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181344" y="2569464"/>
            <a:ext cx="2331720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Redução de Consumo de Energia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860536" y="141732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8951976" y="1527048"/>
            <a:ext cx="233172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t>22,1 meses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951976" y="2569464"/>
            <a:ext cx="2331720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Simples (~1,4 ano)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593592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640080" y="3703320"/>
            <a:ext cx="233172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+261,6 %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745736"/>
            <a:ext cx="2331720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em 5 Anos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319272" y="3593592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3410712" y="3703320"/>
            <a:ext cx="233172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t>R$ 288.533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3410712" y="4745736"/>
            <a:ext cx="2331720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VPL (TMA 12% a.a.)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089904" y="3593592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6181344" y="3703320"/>
            <a:ext cx="233172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t>217.686 kWh/ano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6181344" y="4745736"/>
            <a:ext cx="2331720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Energia Economizada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860536" y="3593592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8951976" y="3703320"/>
            <a:ext cx="233172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t>18,7 tCO2/ano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951976" y="4745736"/>
            <a:ext cx="2331720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Descarbonização ESG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 da Instalação Existente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anterior — controle analógico e descentralizado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48132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Acionamento Simultâneo Forçado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78308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Ambas condensadoras ligam juntas a 100% de carga, gerando pico de corrente de partida.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5603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54864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3288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"Chattering"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464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Liga/desliga constante dos compressores de grande porte sob carga plena.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6118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54864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58444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Desgaste Mecânico Desbalanceado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88620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Inexistência de rodízio de horas entre compressores.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6634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54864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63600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Duty Cycle Contínuo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93776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Ambas as UCs ciclam com 70% de duty cycle o tempo todo.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0" y="1508760"/>
            <a:ext cx="4343400" cy="4206240"/>
          </a:xfrm>
          <a:prstGeom prst="roundRect">
            <a:avLst>
              <a:gd name="adj" fmla="val 173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7589520" y="17373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 do Cenário Atual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89520" y="23317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mensal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0" y="2331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237.000 kWh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589520" y="2834640"/>
            <a:ext cx="3794760" cy="0"/>
          </a:xfrm>
          <a:prstGeom prst="line">
            <a:avLst/>
          </a:prstGeom>
          <a:noFill/>
          <a:ln w="12700">
            <a:solidFill>
              <a:srgbClr val="141B4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7589520" y="3017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mensal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3017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R$ 177.749,96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589520" y="3520440"/>
            <a:ext cx="3794760" cy="0"/>
          </a:xfrm>
          <a:prstGeom prst="line">
            <a:avLst/>
          </a:prstGeom>
          <a:noFill/>
          <a:ln w="12700">
            <a:solidFill>
              <a:srgbClr val="141B4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7589520" y="3703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anual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0" y="3703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R$ 2.132.999,57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7589520" y="4206240"/>
            <a:ext cx="3794760" cy="0"/>
          </a:xfrm>
          <a:prstGeom prst="line">
            <a:avLst/>
          </a:prstGeom>
          <a:noFill/>
          <a:ln w="12700">
            <a:solidFill>
              <a:srgbClr val="141B4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7589520" y="45262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máquinas, sem monitoramento centralizado ou telemetria em tempo real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Solução de Engenharia Proposta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térmico por CLP inteligente — 4 pilares tecnológicos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88888">
                <a:alpha val="2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777240" y="1645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6642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Proporcional em 2 Estágios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14884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Fim do acionamento síncrono. Na estabilidade térmica, opera apenas a unidade Mestre; a Escrava só entra em picos de sobrecarga.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88888">
                <a:alpha val="2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492240" y="1645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0" y="16642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Rodízio Automático a Cada 12h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7315200" y="214884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CLP alterna Mestre e Escrava a cada 12 horas, equalizando o desgaste e as horas de vida útil dos compressores.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88888">
                <a:alpha val="2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777240" y="4069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40873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Redundância Ativa 100%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457200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 contínuo de corrente e fluxo. Em falha da Mestre, a Escrava assume em menos de 1 segundo.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63640" y="388620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88888">
                <a:alpha val="2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6492240" y="4069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40873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Centralizada Remota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457200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Telemetria e supervisão em tempo real de temperatura, alarmes e ajustes de setpoint à distância.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Metodologia de Cálculo e Fórmulas Termoelétricas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Premissas Elétricas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Tensão de alimentação: </a:t>
            </a: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380V trifásico
</a:t>
            </a:r>
            <a:r>
              <a:rPr lang="en-US" sz="12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 de potência (cos phi): </a:t>
            </a: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0,95
</a:t>
            </a:r>
            <a:r>
              <a:rPr lang="en-US" sz="12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Corrente nominal: </a:t>
            </a: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= (P_total x 1000) / (raiz(3) x 380 x 0,95)
</a:t>
            </a:r>
            <a:r>
              <a:rPr lang="en-US" sz="12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Constante mensal: </a:t>
            </a: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4,33 semanas/mês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Jornada Diária (12h de Operação)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474720"/>
            <a:ext cx="5303520" cy="822960"/>
          </a:xfrm>
          <a:prstGeom prst="roundRect">
            <a:avLst>
              <a:gd name="adj" fmla="val 6667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731520" y="35661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Pull-Down — 1,5h
</a:t>
            </a: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Rampa inicial: 100% dos compressores em conjunto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4434840"/>
            <a:ext cx="5303520" cy="822960"/>
          </a:xfrm>
          <a:prstGeom prst="roundRect">
            <a:avLst>
              <a:gd name="adj" fmla="val 6667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731520" y="452628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 — 10,5h
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Temperatura estabilizada: economia do CLP atua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05156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537960" y="12801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Equações de Consumo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17830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Antes (Analógico)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1031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Consumo = Qtd_UC x Pot_UC x [min(Horas,Setup) + max(0,Horas-Setup) x DC_Antes]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DC_Antes = 0,70 (70% em ambas as UCs)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537960" y="3200400"/>
            <a:ext cx="4846320" cy="0"/>
          </a:xfrm>
          <a:prstGeom prst="line">
            <a:avLst/>
          </a:prstGeom>
          <a:noFill/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6537960" y="33375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Depois (CLP Inteligente)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36576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Consumo = Qtd_UC x Pot_UC x min(Horas,Setup) + [(1 x Pot_UC x DC_Mestre) + (Qtd_UC-1) x Pot_UC x DC_Escrava] x max(0,Horas-Setup)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DC_Mestre = 0,70 | DC_Escrava = 0,50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Parâmetros Operacionais Padrão (Baseline)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644817"/>
              </p:ext>
            </p:extLst>
          </p:nvPr>
        </p:nvGraphicFramePr>
        <p:xfrm>
          <a:off x="548640" y="1051560"/>
          <a:ext cx="11091672" cy="5120640"/>
        </p:xfrm>
        <a:graphic>
          <a:graphicData uri="http://schemas.openxmlformats.org/drawingml/2006/table">
            <a:tbl>
              <a:tblPr/>
              <a:tblGrid>
                <a:gridCol w="6126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Parâmetro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Setpoint de Temperatura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23,0</a:t>
                      </a: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°C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Histerese de Controle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1,0</a:t>
                      </a: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°C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de Revezamento Mestre/Escrava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12,0</a:t>
                      </a: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Tarifa de Energia Elétrica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R$ 0,75</a:t>
                      </a: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R$/kWh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Investimento CAPEX 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R$ 300.000,00</a:t>
                      </a: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Duty Cycle Antes (Ambas UCs)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0.70 (70%)</a:t>
                      </a: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Duty Cycle Mestre Depois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0.70 (70%)</a:t>
                      </a: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Duty Cycle Escrava Depois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0.55 (55%)</a:t>
                      </a: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de Operação (todos os dias)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12,0</a:t>
                      </a: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horas/dia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de Pull-Down (Setup)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1,5</a:t>
                      </a: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Quantidade de Climatizadores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Mínima de Atratividade (TMA)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a.a.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Fator de Emissão de Carbono (SIN/MCTI)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kg CO2/kWh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Correlação &amp; Sensibilidade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cada variável impacta consumo, custo e retorno financeiro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Tarifa de Energia (R$/kWh)</a:t>
            </a:r>
            <a:endParaRPr lang="en-US" sz="12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783080"/>
          <a:ext cx="539496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63640" y="14173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— Duty Cycle da Unidade Escrava</a:t>
            </a:r>
            <a:endParaRPr lang="en-US" sz="1250" dirty="0"/>
          </a:p>
        </p:txBody>
      </p:sp>
      <p:graphicFrame>
        <p:nvGraphicFramePr>
          <p:cNvPr id="7" name="Chart 1"/>
          <p:cNvGraphicFramePr/>
          <p:nvPr/>
        </p:nvGraphicFramePr>
        <p:xfrm>
          <a:off x="6263640" y="1783080"/>
          <a:ext cx="539496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38862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5"/>
          <p:cNvSpPr txBox="1"/>
          <p:nvPr/>
        </p:nvSpPr>
        <p:spPr>
          <a:xfrm>
            <a:off x="777240" y="40690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t>Horas de operação: +2h/dia (Black Friday/Natal) eleva a economia para R$ 194.362,88/ano (payback 18,5 meses).   CAPEX: fixado em R$ 300.000,00 para as 38 unidades.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48640" y="493776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7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t>Escala linear por máquina retrofitada: cada climatizador gera R$ 358,04/mês (R$ 4.296,44/ano) de economia líquida individual — 10 máquinas = R$ 42.964,43/ano; 38 máquinas (parque total) = R$ 163.264,82/ano.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Parque Instalado: Cadastro dos 38 Climatizadores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640080" y="1527048"/>
            <a:ext cx="1901952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67712"/>
            <a:ext cx="1901952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Climatizadores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779776" y="1417320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2871216" y="1527048"/>
            <a:ext cx="1901952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2871216" y="2267712"/>
            <a:ext cx="1901952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Unid. Condensadoras (UCs)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10912" y="1417320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5102352" y="1527048"/>
            <a:ext cx="1901952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102352" y="2267712"/>
            <a:ext cx="1901952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Unid. Evaporadoras (UEs)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42048" y="1417320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7333488" y="1527048"/>
            <a:ext cx="1901952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851,1 kW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7333488" y="2267712"/>
            <a:ext cx="1901952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Potência Total Instalada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473184" y="1417320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9564624" y="1527048"/>
            <a:ext cx="1901952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1.361,6 A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564624" y="2267712"/>
            <a:ext cx="1901952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Corrente Total (380V)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063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Distribuição por Tipologia de Evaporadora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74720"/>
          <a:ext cx="7315200" cy="2606040"/>
        </p:xfrm>
        <a:graphic>
          <a:graphicData uri="http://schemas.openxmlformats.org/drawingml/2006/table">
            <a:tbl>
              <a:tblPr/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22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Tipologia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Pot. 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1 — 1 UE de 1,5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21,5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34,4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2 — 1 UE de 2,2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22,2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3 — 1 UE de 3,0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23,0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36,8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4 — 2 UEs de 1,5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23,0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36,8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5 — 2 UEs de 2,2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24,4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39,0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6 — 2 UEs de 3,0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26,0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41,6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8183880" y="3474720"/>
            <a:ext cx="3474720" cy="260604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 txBox="1"/>
          <p:nvPr/>
        </p:nvSpPr>
        <p:spPr>
          <a:xfrm>
            <a:off x="8412480" y="37033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91,1 kW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0" y="4206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Potência total de evaporadoras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8412480" y="47091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760,0 kW</a:t>
            </a:r>
            <a:endParaRPr lang="en-US" sz="2400" dirty="0"/>
          </a:p>
        </p:txBody>
      </p:sp>
      <p:sp>
        <p:nvSpPr>
          <p:cNvPr id="24" name="Text 21"/>
          <p:cNvSpPr txBox="1"/>
          <p:nvPr/>
        </p:nvSpPr>
        <p:spPr>
          <a:xfrm>
            <a:off x="8412480" y="52120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Potência total de condensadoras (76 UCs de 10,0 kW)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Validação Prática em Campo — Telemetria (Logs R1)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minuto a minuto direto dos CLPs durante 12h de expediente diário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1554480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990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886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Equip.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p/ Setpoint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 Mestre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 Escrava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Ambos ON/dia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 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Rodízio 12h?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FC-17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351,8 min (~5,9h)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203,7 min/dia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FC-27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121,5 min (~2,0h)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43,0 min/dia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FC-28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 min (~0,5h)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 min/dia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246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Conclusões de Engenharia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703320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 txBox="1"/>
          <p:nvPr/>
        </p:nvSpPr>
        <p:spPr>
          <a:xfrm>
            <a:off x="54864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76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Rodízio automático de 12h operando com 100% de sucesso na alternância dos compressores líderes.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4343400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7"/>
          <p:cNvSpPr txBox="1"/>
          <p:nvPr/>
        </p:nvSpPr>
        <p:spPr>
          <a:xfrm>
            <a:off x="54864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097280" y="429768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Equipamentos com 2 evaporadoras atingem o setpoint em 30-120 min e reduzem o acionamento simultâneo para ~43-45 min/dia (~6% da jornada).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4983480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 txBox="1"/>
          <p:nvPr/>
        </p:nvSpPr>
        <p:spPr>
          <a:xfrm>
            <a:off x="54864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493776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FC-17 (1 evaporadora, alta carga), o CLP evitou sobrecarga contínua, modulando a Escrava a 53,4% contra os 70% do sistema antigo.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Comparativo Consolidado de Custos e Consumo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7318999"/>
              </p:ext>
            </p:extLst>
          </p:nvPr>
        </p:nvGraphicFramePr>
        <p:xfrm>
          <a:off x="548640" y="1051560"/>
          <a:ext cx="11091672" cy="18288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33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CLP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Consumo Mensal de Energia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237.000 kWh</a:t>
                      </a: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218.859 kWh</a:t>
                      </a: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18.141 kWh</a:t>
                      </a: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-7,7%</a:t>
                      </a: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Consumo Anual de Energia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2.843.999 kWh</a:t>
                      </a: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2.626.313 kWh</a:t>
                      </a: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217.686 kWh</a:t>
                      </a: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-7,7%</a:t>
                      </a: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Gasto Operacional Mensal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R$ 177.749,96</a:t>
                      </a: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R$ 164.144,56</a:t>
                      </a: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R$ 13.605,40</a:t>
                      </a: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-7,7%</a:t>
                      </a: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Gasto Operacional Anual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R$ 2.132.999,57</a:t>
                      </a: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R$ 1.969.734,75</a:t>
                      </a: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R$ 163.264,82</a:t>
                      </a: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-7,7%</a:t>
                      </a: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0632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Mensal de Energia (kWh)</a:t>
            </a:r>
            <a:endParaRPr lang="en-US" sz="12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3429000"/>
          <a:ext cx="539496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263640" y="30632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Operacional Anual (R$)</a:t>
            </a:r>
            <a:endParaRPr lang="en-US" sz="1250" dirty="0"/>
          </a:p>
        </p:txBody>
      </p:sp>
      <p:graphicFrame>
        <p:nvGraphicFramePr>
          <p:cNvPr id="7" name="Chart 1"/>
          <p:cNvGraphicFramePr/>
          <p:nvPr/>
        </p:nvGraphicFramePr>
        <p:xfrm>
          <a:off x="6263640" y="3429000"/>
          <a:ext cx="539496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3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de Viabilidade Financeira (5 Anos)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640080" y="1161288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R$ 301.000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19656"/>
            <a:ext cx="242316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Inicial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337560" y="105156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3429000" y="1161288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t>22,1 meses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819656"/>
            <a:ext cx="242316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Simples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05156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6217920" y="1161288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t>+172,1%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819656"/>
            <a:ext cx="242316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em 5 Anos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915400" y="105156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9006840" y="1161288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t>R$ 288.533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006840" y="1819656"/>
            <a:ext cx="242316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VPL (TMA 12%)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514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de Fluxo de Caixa Acumulado</a:t>
            </a:r>
            <a:endParaRPr lang="en-US" sz="1300" dirty="0"/>
          </a:p>
        </p:txBody>
      </p:sp>
      <p:graphicFrame>
        <p:nvGraphicFramePr>
          <p:cNvPr id="16" name="Chart 0"/>
          <p:cNvGraphicFramePr/>
          <p:nvPr/>
        </p:nvGraphicFramePr>
        <p:xfrm>
          <a:off x="548640" y="2880360"/>
          <a:ext cx="7452360" cy="2880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Shape 14"/>
          <p:cNvSpPr/>
          <p:nvPr/>
        </p:nvSpPr>
        <p:spPr>
          <a:xfrm>
            <a:off x="8229600" y="2880360"/>
            <a:ext cx="3429000" cy="2880360"/>
          </a:xfrm>
          <a:prstGeom prst="roundRect">
            <a:avLst>
              <a:gd name="adj" fmla="val 254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 txBox="1"/>
          <p:nvPr/>
        </p:nvSpPr>
        <p:spPr>
          <a:xfrm>
            <a:off x="8458200" y="30632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Breakeven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458200" y="3337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17º mês completo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8458200" y="3886200"/>
            <a:ext cx="2971800" cy="0"/>
          </a:xfrm>
          <a:prstGeom prst="line">
            <a:avLst/>
          </a:prstGeom>
          <a:noFill/>
          <a:ln w="12700">
            <a:solidFill>
              <a:srgbClr val="141B4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8"/>
          <p:cNvSpPr txBox="1"/>
          <p:nvPr/>
        </p:nvSpPr>
        <p:spPr>
          <a:xfrm>
            <a:off x="8458200" y="4023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Lucro líquido em 5 anos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4582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R$ 787.432,10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8458200" y="4846320"/>
            <a:ext cx="2971800" cy="0"/>
          </a:xfrm>
          <a:prstGeom prst="line">
            <a:avLst/>
          </a:prstGeom>
          <a:noFill/>
          <a:ln w="12700">
            <a:solidFill>
              <a:srgbClr val="141B4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/>
          <p:cNvSpPr txBox="1"/>
          <p:nvPr/>
        </p:nvSpPr>
        <p:spPr>
          <a:xfrm>
            <a:off x="8458200" y="49834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acumulada - CAPEX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458200" y="5257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R$ 1.088.432,10 - R$ 301.000,00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Sustentabilidade Corporativa e Descarbonização ESG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212080" cy="4572000"/>
          </a:xfrm>
          <a:prstGeom prst="roundRect">
            <a:avLst>
              <a:gd name="adj" fmla="val 16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822960" y="15544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18,7 tCO2/ano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317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emissões de gases de efeito estufa evitadas por ano (125 tCO2 em 5 anos)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3063240"/>
            <a:ext cx="4663440" cy="0"/>
          </a:xfrm>
          <a:prstGeom prst="line">
            <a:avLst/>
          </a:prstGeom>
          <a:noFill/>
          <a:ln w="12700">
            <a:solidFill>
              <a:srgbClr val="141B4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t>217.686 kWh/ano de energia economizada</a:t>
            </a:r>
            <a:br/>
            <a:r>
              <a:t>0,086 kg CO2/kWh fator de emissão (SIN / MCTI)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26480" y="137160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126480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1.560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13533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~1.560 árvores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69164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plantadas e preservadas por ano para absorver o mesmo volume de carbono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26480" y="27889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612648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7706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~54 veículos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310896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passeio a combustão retirados de circulação nas avenidas de Ribeirão Preto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26480" y="420624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6126480" y="4206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4187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Selos verdes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452628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Qualificação direta para certificações LEED, EDGE e ISO 50001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Cronograma Executivo de Implantação (12 Semanas)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Instalação sem parada operacional — obras noturnas das 22h às 08h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581912" y="2194560"/>
            <a:ext cx="8997696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307592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1307592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06040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S1-S2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2066544" cy="2377440"/>
          </a:xfrm>
          <a:prstGeom prst="roundRect">
            <a:avLst>
              <a:gd name="adj" fmla="val 2655"/>
            </a:avLst>
          </a:prstGeom>
          <a:solidFill>
            <a:srgbClr val="F4F6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58368" y="3108960"/>
            <a:ext cx="1847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&amp; Aquisição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3840480"/>
            <a:ext cx="1847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Detalhamento, compra de CLPs, sensores de corrente e quadros.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557016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3557016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798064" y="2606040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S3-S4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98064" y="2971800"/>
            <a:ext cx="2066544" cy="2377440"/>
          </a:xfrm>
          <a:prstGeom prst="roundRect">
            <a:avLst>
              <a:gd name="adj" fmla="val 2655"/>
            </a:avLst>
          </a:prstGeom>
          <a:solidFill>
            <a:srgbClr val="F4F6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2907792" y="3108960"/>
            <a:ext cx="1847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Bancada &amp; Programação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907792" y="3840480"/>
            <a:ext cx="1847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Montagem de bancada, testes e firmware dos CLPs.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806440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580644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47488" y="2606040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S5-S9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47488" y="2971800"/>
            <a:ext cx="2066544" cy="2377440"/>
          </a:xfrm>
          <a:prstGeom prst="roundRect">
            <a:avLst>
              <a:gd name="adj" fmla="val 2655"/>
            </a:avLst>
          </a:prstGeom>
          <a:solidFill>
            <a:srgbClr val="F4F6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5157216" y="3108960"/>
            <a:ext cx="1847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Instalação Física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157216" y="3840480"/>
            <a:ext cx="1847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Instalação nos 38 climatizadores (7-8 máquinas/semana).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055864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8055864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296912" y="2606040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S10-S11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296912" y="2971800"/>
            <a:ext cx="2066544" cy="2377440"/>
          </a:xfrm>
          <a:prstGeom prst="roundRect">
            <a:avLst>
              <a:gd name="adj" fmla="val 2655"/>
            </a:avLst>
          </a:prstGeom>
          <a:solidFill>
            <a:srgbClr val="F4F6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 txBox="1"/>
          <p:nvPr/>
        </p:nvSpPr>
        <p:spPr>
          <a:xfrm>
            <a:off x="7406640" y="3108960"/>
            <a:ext cx="1847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Comissionamento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406640" y="3840480"/>
            <a:ext cx="1847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fino de setpoints e validação do rodízio 12h.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0305288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10305288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546336" y="2606040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S12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546336" y="2971800"/>
            <a:ext cx="2066544" cy="2377440"/>
          </a:xfrm>
          <a:prstGeom prst="roundRect">
            <a:avLst>
              <a:gd name="adj" fmla="val 2655"/>
            </a:avLst>
          </a:prstGeom>
          <a:solidFill>
            <a:srgbClr val="F4F6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 txBox="1"/>
          <p:nvPr/>
        </p:nvSpPr>
        <p:spPr>
          <a:xfrm>
            <a:off x="9656064" y="3108960"/>
            <a:ext cx="1847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&amp; Treinamento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656064" y="3840480"/>
            <a:ext cx="1847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 da equipe, painel web e termo de aceite.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 Frequentes &amp; Mitigação de Riscos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88888">
                <a:alpha val="2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777240" y="1627632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777240" y="1627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5087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acontece se o CLP falhar?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2024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Chave seletora manual/automática em cada quadro. O operador comuta em 1 segundo para o modo manual analógico de emergência.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88888">
                <a:alpha val="2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777240" y="3227832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777240" y="3227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1089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economia compromete o conforto térmico em dias quentes?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2044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Não. O CLP monitora o erro de temperatura; em dias de calor extremo ou alta lotação, a Escrava entra em auxílio imediato.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88888">
                <a:alpha val="2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777240" y="4828032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777240" y="4828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7091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comprova que a economia é real?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512064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Telemetria já instalada nos pilotos (FC-17, FC-27, FC-28) comprovou a redução do acionamento síncrono e a conformidade do rodízio.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754880" cy="4754880"/>
          </a:xfrm>
          <a:prstGeom prst="ellipse">
            <a:avLst/>
          </a:prstGeom>
          <a:solidFill>
            <a:srgbClr val="141B4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875520" y="4389120"/>
            <a:ext cx="4114800" cy="41148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640080" y="5029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Conclusão, Parecer Técnico e Próximos Passos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t>Projeto tecnicamente maduro, financeiramente de altíssimo retorno e ambientalmente responsável.</a:t>
            </a:r>
            <a:br/>
            <a:br/>
            <a:r>
              <a:t>Investimento de R$ 301.000,00 com retorno garantido em 22,1 meses.</a:t>
            </a:r>
            <a:br/>
            <a:r>
              <a:t>Redução permanente de R$ 163.264,82/ano no custo operacional de energia elétrica.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Passos Recomendados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840480"/>
            <a:ext cx="411480" cy="4114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640080" y="3840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85876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da proposta executiva pela Diretoria e Conselho Gestor.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434840"/>
            <a:ext cx="411480" cy="4114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40080" y="4434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445312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Assinatura do contrato de fornecimento e serviços.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640080" y="5029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04748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imediato da Fase 01 do cronograma executivo.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5806440"/>
            <a:ext cx="10881360" cy="0"/>
          </a:xfrm>
          <a:prstGeom prst="line">
            <a:avLst/>
          </a:prstGeom>
          <a:noFill/>
          <a:ln w="12700">
            <a:solidFill>
              <a:srgbClr val="141B4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Ar Condicionado — Engenharia Térmica &amp; Automação Industrial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Victor Hugo Mota de Almeida — Especialista em Eficiência Energética &amp; Automação Industrial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1824</Words>
  <Application>Microsoft Office PowerPoint</Application>
  <PresentationFormat>Widescreen</PresentationFormat>
  <Paragraphs>345</Paragraphs>
  <Slides>15</Slides>
  <Notes>15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Cambria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victor hugo</cp:lastModifiedBy>
  <cp:revision>4</cp:revision>
  <dcterms:created xsi:type="dcterms:W3CDTF">2026-08-26T19:20:24Z</dcterms:created>
  <dcterms:modified xsi:type="dcterms:W3CDTF">2026-08-26T20:07:46Z</dcterms:modified>
</cp:coreProperties>
</file>