
<file path=[Content_Types].xml><?xml version="1.0" encoding="utf-8"?>
<Types xmlns="http://schemas.openxmlformats.org/package/2006/content-types"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notesSlides/notesSlide11.xml" ContentType="application/vnd.openxmlformats-officedocument.presentationml.notesSlide+xml"/>
  <Override PartName="/ppt/charts/chart5.xml" ContentType="application/vnd.openxmlformats-officedocument.drawingml.chart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7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charts/_rels/chart1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.xlsx"/></Relationships>
</file>

<file path=ppt/charts/_rels/chart2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3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4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5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pt-BR"/>
  <c:roundedCorners val="1"/>
  <c:style val="2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Economia Anual (R$ mil)</c:v>
                </c:pt>
              </c:strCache>
            </c:strRef>
          </c:tx>
          <c:spPr>
            <a:solidFill>
              <a:srgbClr val="00A896"/>
            </a:solidFill>
            <a:effectLst/>
          </c:spPr>
          <c:invertIfNegative val="0"/>
          <c:dLbls>
            <c:numFmt formatCode="#,##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800" b="0" i="0" u="none" strike="noStrike">
                    <a:solidFill>
                      <a:srgbClr val="1E2761"/>
                    </a:solidFill>
                    <a:latin typeface="Arial"/>
                  </a:defRPr>
                </a:pPr>
                <a:endParaRPr lang="pt-BR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Sheet1!$A$2:$A$5</c:f>
              <c:strCache>
                <c:ptCount val="4"/>
                <c:pt idx="0">
                  <c:v>0,65</c:v>
                </c:pt>
                <c:pt idx="1">
                  <c:v>0,75</c:v>
                </c:pt>
                <c:pt idx="2">
                  <c:v>0,85</c:v>
                </c:pt>
                <c:pt idx="3">
                  <c:v>1,00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188.7</c:v>
                </c:pt>
                <c:pt idx="1">
                  <c:v>217.7</c:v>
                </c:pt>
                <c:pt idx="2">
                  <c:v>246.7</c:v>
                </c:pt>
                <c:pt idx="3">
                  <c:v>290.2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FE6A-4C3B-9607-A21C9BDC018E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5A6472"/>
                </a:solidFill>
                <a:latin typeface="Arial"/>
              </a:defRPr>
            </a:pPr>
            <a:endParaRPr lang="pt-BR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5E5E5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5A6472"/>
                </a:solidFill>
                <a:latin typeface="Arial"/>
              </a:defRPr>
            </a:pPr>
            <a:endParaRPr lang="pt-BR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pt-BR"/>
  <c:roundedCorners val="1"/>
  <c:style val="2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Economia Anual (R$ mil)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dLbls>
            <c:numFmt formatCode="#,##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800" b="0" i="0" u="none" strike="noStrike">
                    <a:solidFill>
                      <a:srgbClr val="1E2761"/>
                    </a:solidFill>
                    <a:latin typeface="Arial"/>
                  </a:defRPr>
                </a:pPr>
                <a:endParaRPr lang="pt-BR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Sheet1!$A$2:$A$5</c:f>
              <c:strCache>
                <c:ptCount val="4"/>
                <c:pt idx="0">
                  <c:v>30%</c:v>
                </c:pt>
                <c:pt idx="1">
                  <c:v>40%</c:v>
                </c:pt>
                <c:pt idx="2">
                  <c:v>50% (padrão)</c:v>
                </c:pt>
                <c:pt idx="3">
                  <c:v>60%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435.4</c:v>
                </c:pt>
                <c:pt idx="1">
                  <c:v>326.5</c:v>
                </c:pt>
                <c:pt idx="2">
                  <c:v>217.7</c:v>
                </c:pt>
                <c:pt idx="3">
                  <c:v>108.8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8B01-4E49-AE8C-6974100D1152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5A6472"/>
                </a:solidFill>
                <a:latin typeface="Arial"/>
              </a:defRPr>
            </a:pPr>
            <a:endParaRPr lang="pt-BR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5E5E5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5A6472"/>
                </a:solidFill>
                <a:latin typeface="Arial"/>
              </a:defRPr>
            </a:pPr>
            <a:endParaRPr lang="pt-BR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pt-BR"/>
  <c:roundedCorners val="1"/>
  <c:style val="2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kWh/mês</c:v>
                </c:pt>
              </c:strCache>
            </c:strRef>
          </c:tx>
          <c:spPr>
            <a:solidFill>
              <a:srgbClr val="C0392B"/>
            </a:solidFill>
            <a:effectLst/>
          </c:spPr>
          <c:invertIfNegative val="0"/>
          <c:dPt>
            <c:idx val="0"/>
            <c:invertIfNegative val="0"/>
            <c:bubble3D val="0"/>
            <c:extLst>
              <c:ext xmlns:c16="http://schemas.microsoft.com/office/drawing/2014/chart" uri="{C3380CC4-5D6E-409C-BE32-E72D297353CC}">
                <c16:uniqueId val="{00000001-4BC6-454D-ADFC-B3DCA8CFA418}"/>
              </c:ext>
            </c:extLst>
          </c:dPt>
          <c:dPt>
            <c:idx val="1"/>
            <c:invertIfNegative val="0"/>
            <c:bubble3D val="0"/>
            <c:spPr>
              <a:solidFill>
                <a:srgbClr val="00A896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3-4BC6-454D-ADFC-B3DCA8CFA418}"/>
              </c:ext>
            </c:extLst>
          </c:dPt>
          <c:dLbls>
            <c:numFmt formatCode="#,##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000" b="0" i="0" u="none" strike="noStrike">
                    <a:solidFill>
                      <a:srgbClr val="1E2761"/>
                    </a:solidFill>
                    <a:latin typeface="Arial"/>
                  </a:defRPr>
                </a:pPr>
                <a:endParaRPr lang="pt-BR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Sheet1!$A$2:$A$3</c:f>
              <c:strCache>
                <c:ptCount val="2"/>
                <c:pt idx="0">
                  <c:v>Antes</c:v>
                </c:pt>
                <c:pt idx="1">
                  <c:v>Com CLP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237000</c:v>
                </c:pt>
                <c:pt idx="1">
                  <c:v>212813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4-4BC6-454D-ADFC-B3DCA8CFA418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A6472"/>
                </a:solidFill>
                <a:latin typeface="Arial"/>
              </a:defRPr>
            </a:pPr>
            <a:endParaRPr lang="pt-BR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in val="0"/>
        </c:scaling>
        <c:delete val="0"/>
        <c:axPos val="l"/>
        <c:majorGridlines>
          <c:spPr>
            <a:ln w="6350" cap="flat">
              <a:solidFill>
                <a:srgbClr val="E0E0E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5A6472"/>
                </a:solidFill>
                <a:latin typeface="Arial"/>
              </a:defRPr>
            </a:pPr>
            <a:endParaRPr lang="pt-BR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pt-BR"/>
  <c:roundedCorners val="1"/>
  <c:style val="2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R$/ano</c:v>
                </c:pt>
              </c:strCache>
            </c:strRef>
          </c:tx>
          <c:spPr>
            <a:solidFill>
              <a:srgbClr val="C0392B"/>
            </a:solidFill>
            <a:effectLst/>
          </c:spPr>
          <c:invertIfNegative val="0"/>
          <c:dPt>
            <c:idx val="0"/>
            <c:invertIfNegative val="0"/>
            <c:bubble3D val="0"/>
            <c:extLst>
              <c:ext xmlns:c16="http://schemas.microsoft.com/office/drawing/2014/chart" uri="{C3380CC4-5D6E-409C-BE32-E72D297353CC}">
                <c16:uniqueId val="{00000001-228E-4C1E-BBF3-9FAB6423CDD5}"/>
              </c:ext>
            </c:extLst>
          </c:dPt>
          <c:dPt>
            <c:idx val="1"/>
            <c:invertIfNegative val="0"/>
            <c:bubble3D val="0"/>
            <c:spPr>
              <a:solidFill>
                <a:srgbClr val="00A896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3-228E-4C1E-BBF3-9FAB6423CDD5}"/>
              </c:ext>
            </c:extLst>
          </c:dPt>
          <c:dLbls>
            <c:numFmt formatCode="#,##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000" b="0" i="0" u="none" strike="noStrike">
                    <a:solidFill>
                      <a:srgbClr val="1E2761"/>
                    </a:solidFill>
                    <a:latin typeface="Arial"/>
                  </a:defRPr>
                </a:pPr>
                <a:endParaRPr lang="pt-BR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Sheet1!$A$2:$A$3</c:f>
              <c:strCache>
                <c:ptCount val="2"/>
                <c:pt idx="0">
                  <c:v>Antes</c:v>
                </c:pt>
                <c:pt idx="1">
                  <c:v>Com CLP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2132999.5699999998</c:v>
                </c:pt>
                <c:pt idx="1">
                  <c:v>1915313.15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4-228E-4C1E-BBF3-9FAB6423CDD5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A6472"/>
                </a:solidFill>
                <a:latin typeface="Arial"/>
              </a:defRPr>
            </a:pPr>
            <a:endParaRPr lang="pt-BR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in val="0"/>
        </c:scaling>
        <c:delete val="0"/>
        <c:axPos val="l"/>
        <c:majorGridlines>
          <c:spPr>
            <a:ln w="6350" cap="flat">
              <a:solidFill>
                <a:srgbClr val="E0E0E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5A6472"/>
                </a:solidFill>
                <a:latin typeface="Arial"/>
              </a:defRPr>
            </a:pPr>
            <a:endParaRPr lang="pt-BR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pt-BR"/>
  <c:roundedCorners val="1"/>
  <c:style val="2"/>
  <c:chart>
    <c:autoTitleDeleted val="1"/>
    <c:plotArea>
      <c:layout/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Fluxo de Caixa Acumulado (R$)</c:v>
                </c:pt>
              </c:strCache>
            </c:strRef>
          </c:tx>
          <c:spPr>
            <a:ln w="38100" cap="flat">
              <a:solidFill>
                <a:srgbClr val="028090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rgbClr val="028090"/>
              </a:solidFill>
              <a:ln w="9525" cap="flat">
                <a:solidFill>
                  <a:srgbClr val="028090"/>
                </a:solidFill>
                <a:prstDash val="solid"/>
                <a:round/>
              </a:ln>
              <a:effectLst/>
            </c:spPr>
          </c:marker>
          <c:cat>
            <c:strRef>
              <c:f>Sheet1!$A$2:$A$9</c:f>
              <c:strCache>
                <c:ptCount val="8"/>
                <c:pt idx="0">
                  <c:v>Mês 0</c:v>
                </c:pt>
                <c:pt idx="1">
                  <c:v>Mês 6</c:v>
                </c:pt>
                <c:pt idx="2">
                  <c:v>Mês 12</c:v>
                </c:pt>
                <c:pt idx="3">
                  <c:v>Mês 16,6</c:v>
                </c:pt>
                <c:pt idx="4">
                  <c:v>Mês 24</c:v>
                </c:pt>
                <c:pt idx="5">
                  <c:v>Mês 36</c:v>
                </c:pt>
                <c:pt idx="6">
                  <c:v>Mês 48</c:v>
                </c:pt>
                <c:pt idx="7">
                  <c:v>Mês 60</c:v>
                </c:pt>
              </c:strCache>
            </c:strRef>
          </c:cat>
          <c:val>
            <c:numRef>
              <c:f>Sheet1!$B$2:$B$9</c:f>
              <c:numCache>
                <c:formatCode>General</c:formatCode>
                <c:ptCount val="8"/>
                <c:pt idx="0">
                  <c:v>-301000</c:v>
                </c:pt>
                <c:pt idx="1">
                  <c:v>-192156.82</c:v>
                </c:pt>
                <c:pt idx="2">
                  <c:v>-83313.64</c:v>
                </c:pt>
                <c:pt idx="3">
                  <c:v>0</c:v>
                </c:pt>
                <c:pt idx="4">
                  <c:v>134372.72</c:v>
                </c:pt>
                <c:pt idx="5">
                  <c:v>352059.08</c:v>
                </c:pt>
                <c:pt idx="6">
                  <c:v>569745.43999999994</c:v>
                </c:pt>
                <c:pt idx="7">
                  <c:v>787432.1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549B-4796-8495-AC12A673BB45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2094734554"/>
        <c:axId val="2094734552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5A6472"/>
                </a:solidFill>
                <a:latin typeface="Arial"/>
              </a:defRPr>
            </a:pPr>
            <a:endParaRPr lang="pt-BR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5E5E5"/>
              </a:solidFill>
              <a:prstDash val="solid"/>
              <a:round/>
            </a:ln>
          </c:spPr>
        </c:majorGridlines>
        <c:numFmt formatCode="#,##0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5A6472"/>
                </a:solidFill>
                <a:latin typeface="Arial"/>
              </a:defRPr>
            </a:pPr>
            <a:endParaRPr lang="pt-BR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32736446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chart" Target="../charts/chart1.xml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Relationship Id="rId4" Type="http://schemas.openxmlformats.org/officeDocument/2006/relationships/chart" Target="../charts/char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chart" Target="../charts/chart3.xml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Relationship Id="rId4" Type="http://schemas.openxmlformats.org/officeDocument/2006/relationships/chart" Target="../charts/chart4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chart" Target="../charts/chart5.xml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276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595360" y="-2011680"/>
            <a:ext cx="5303520" cy="5303520"/>
          </a:xfrm>
          <a:prstGeom prst="ellipse">
            <a:avLst/>
          </a:prstGeom>
          <a:solidFill>
            <a:srgbClr val="141B45"/>
          </a:solidFill>
          <a:ln/>
        </p:spPr>
      </p:sp>
      <p:sp>
        <p:nvSpPr>
          <p:cNvPr id="3" name="Shape 1"/>
          <p:cNvSpPr/>
          <p:nvPr/>
        </p:nvSpPr>
        <p:spPr>
          <a:xfrm>
            <a:off x="10332720" y="4297680"/>
            <a:ext cx="3291840" cy="3291840"/>
          </a:xfrm>
          <a:prstGeom prst="ellipse">
            <a:avLst/>
          </a:prstGeom>
          <a:solidFill>
            <a:srgbClr val="028090"/>
          </a:solidFill>
          <a:ln/>
        </p:spPr>
      </p:sp>
      <p:sp>
        <p:nvSpPr>
          <p:cNvPr id="4" name="Shape 2"/>
          <p:cNvSpPr/>
          <p:nvPr/>
        </p:nvSpPr>
        <p:spPr>
          <a:xfrm>
            <a:off x="-1280160" y="5120640"/>
            <a:ext cx="2926080" cy="2926080"/>
          </a:xfrm>
          <a:prstGeom prst="ellipse">
            <a:avLst/>
          </a:prstGeom>
          <a:solidFill>
            <a:srgbClr val="141B45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822960" y="1965960"/>
            <a:ext cx="98755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ESTUDO DE VIABILIDADE TÉCNICA E ECONÔMICA</a:t>
            </a:r>
            <a:endParaRPr lang="en-US" sz="380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2971800"/>
            <a:ext cx="8778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Retrofit do Sistema de Climatização (HVAC) — Automação e Gerenciamento Inteligente por CLP em 38 Equipamentos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822960" y="3977640"/>
            <a:ext cx="2194560" cy="0"/>
          </a:xfrm>
          <a:prstGeom prst="line">
            <a:avLst/>
          </a:prstGeom>
          <a:noFill/>
          <a:ln w="38100">
            <a:solidFill>
              <a:srgbClr val="00A896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822960" y="4251960"/>
            <a:ext cx="86868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35000"/>
              </a:lnSpc>
              <a:buNone/>
            </a:pPr>
            <a:r>
              <a:rPr lang="en-US" sz="1300" b="1" dirty="0">
                <a:solidFill>
                  <a:srgbClr val="00A8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Cliente: </a:t>
            </a: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Novo Shopping Center — Setor de Engenharia e Manutenção
</a:t>
            </a:r>
            <a:r>
              <a:rPr lang="en-US" sz="1300" b="1" dirty="0">
                <a:solidFill>
                  <a:srgbClr val="00A8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Elaboração Técnica: </a:t>
            </a: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3D Ar Condicionado — Engenharia Térmica &amp; Automação Industrial
</a:t>
            </a:r>
            <a:r>
              <a:rPr lang="en-US" sz="1300" b="1" dirty="0">
                <a:solidFill>
                  <a:srgbClr val="00A8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Responsável Técnico: </a:t>
            </a: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Eng. Victor Hugo Mota de Almeida
</a:t>
            </a:r>
            <a:r>
              <a:rPr lang="en-US" sz="1300" b="1" dirty="0">
                <a:solidFill>
                  <a:srgbClr val="00A8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Local / Data: </a:t>
            </a: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Ribeirão Preto / SP — Agosto de 2026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4F6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110916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Resumo Executivo &amp; Principais Indicadores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91440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Retrofit de 38 climatizadores com automação inteligente por CLP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548640" y="1417320"/>
            <a:ext cx="2514600" cy="1920240"/>
          </a:xfrm>
          <a:prstGeom prst="roundRect">
            <a:avLst>
              <a:gd name="adj" fmla="val 3810"/>
            </a:avLst>
          </a:prstGeom>
          <a:solidFill>
            <a:srgbClr val="FFFFFF"/>
          </a:solidFill>
          <a:ln/>
          <a:effectLst>
            <a:outerShdw blurRad="76200" dist="25400" dir="5400000" algn="bl" rotWithShape="0">
              <a:srgbClr val="888888">
                <a:alpha val="25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640080" y="1527048"/>
            <a:ext cx="2331720" cy="10561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R$ 301.000</a:t>
            </a:r>
            <a:endParaRPr lang="en-US" sz="22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2569464"/>
            <a:ext cx="2331720" cy="72969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5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Investimento Total (CAPEX)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3319272" y="1417320"/>
            <a:ext cx="2514600" cy="1920240"/>
          </a:xfrm>
          <a:prstGeom prst="roundRect">
            <a:avLst>
              <a:gd name="adj" fmla="val 3810"/>
            </a:avLst>
          </a:prstGeom>
          <a:solidFill>
            <a:srgbClr val="FFFFFF"/>
          </a:solidFill>
          <a:ln/>
          <a:effectLst>
            <a:outerShdw blurRad="76200" dist="25400" dir="5400000" algn="bl" rotWithShape="0">
              <a:srgbClr val="888888">
                <a:alpha val="25000"/>
              </a:srgbClr>
            </a:outerShdw>
          </a:effectLst>
        </p:spPr>
      </p:sp>
      <p:sp>
        <p:nvSpPr>
          <p:cNvPr id="8" name="Text 6"/>
          <p:cNvSpPr txBox="1"/>
          <p:nvPr/>
        </p:nvSpPr>
        <p:spPr>
          <a:xfrm>
            <a:off x="3410712" y="1527048"/>
            <a:ext cx="2331720" cy="10561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>
                <a:solidFill>
                  <a:srgbClr val="02809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R$ 217.686 </a:t>
            </a:r>
            <a:r>
              <a:rPr lang="en-US" sz="2200" b="1" dirty="0">
                <a:solidFill>
                  <a:srgbClr val="02809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/ano</a:t>
            </a:r>
            <a:endParaRPr lang="en-US" sz="2200" dirty="0"/>
          </a:p>
        </p:txBody>
      </p:sp>
      <p:sp>
        <p:nvSpPr>
          <p:cNvPr id="9" name="Text 7"/>
          <p:cNvSpPr txBox="1"/>
          <p:nvPr/>
        </p:nvSpPr>
        <p:spPr>
          <a:xfrm>
            <a:off x="3410712" y="2569464"/>
            <a:ext cx="2331720" cy="72969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5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Economia Anual Recorrente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6089904" y="1417320"/>
            <a:ext cx="2514600" cy="1920240"/>
          </a:xfrm>
          <a:prstGeom prst="roundRect">
            <a:avLst>
              <a:gd name="adj" fmla="val 3810"/>
            </a:avLst>
          </a:prstGeom>
          <a:solidFill>
            <a:srgbClr val="FFFFFF"/>
          </a:solidFill>
          <a:ln/>
          <a:effectLst>
            <a:outerShdw blurRad="76200" dist="25400" dir="5400000" algn="bl" rotWithShape="0">
              <a:srgbClr val="888888">
                <a:alpha val="25000"/>
              </a:srgbClr>
            </a:outerShdw>
          </a:effectLst>
        </p:spPr>
      </p:sp>
      <p:sp>
        <p:nvSpPr>
          <p:cNvPr id="11" name="Text 9"/>
          <p:cNvSpPr txBox="1"/>
          <p:nvPr/>
        </p:nvSpPr>
        <p:spPr>
          <a:xfrm>
            <a:off x="6181344" y="1527048"/>
            <a:ext cx="2331720" cy="10561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02809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10,2 %</a:t>
            </a:r>
            <a:endParaRPr lang="en-US" sz="2200" dirty="0"/>
          </a:p>
        </p:txBody>
      </p:sp>
      <p:sp>
        <p:nvSpPr>
          <p:cNvPr id="12" name="Text 10"/>
          <p:cNvSpPr txBox="1"/>
          <p:nvPr/>
        </p:nvSpPr>
        <p:spPr>
          <a:xfrm>
            <a:off x="6181344" y="2569464"/>
            <a:ext cx="2331720" cy="72969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5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Redução de Consumo de Energia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8860536" y="1417320"/>
            <a:ext cx="2514600" cy="1920240"/>
          </a:xfrm>
          <a:prstGeom prst="roundRect">
            <a:avLst>
              <a:gd name="adj" fmla="val 3810"/>
            </a:avLst>
          </a:prstGeom>
          <a:solidFill>
            <a:srgbClr val="FFFFFF"/>
          </a:solidFill>
          <a:ln/>
          <a:effectLst>
            <a:outerShdw blurRad="76200" dist="25400" dir="5400000" algn="bl" rotWithShape="0">
              <a:srgbClr val="888888">
                <a:alpha val="25000"/>
              </a:srgbClr>
            </a:outerShdw>
          </a:effectLst>
        </p:spPr>
      </p:sp>
      <p:sp>
        <p:nvSpPr>
          <p:cNvPr id="14" name="Text 12"/>
          <p:cNvSpPr txBox="1"/>
          <p:nvPr/>
        </p:nvSpPr>
        <p:spPr>
          <a:xfrm>
            <a:off x="8951976" y="1527048"/>
            <a:ext cx="2331720" cy="10561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>
                <a:solidFill>
                  <a:srgbClr val="02809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16,5 meses</a:t>
            </a:r>
            <a:endParaRPr lang="en-US" sz="2200" dirty="0"/>
          </a:p>
        </p:txBody>
      </p:sp>
      <p:sp>
        <p:nvSpPr>
          <p:cNvPr id="15" name="Text 13"/>
          <p:cNvSpPr txBox="1"/>
          <p:nvPr/>
        </p:nvSpPr>
        <p:spPr>
          <a:xfrm>
            <a:off x="8951976" y="2569464"/>
            <a:ext cx="2331720" cy="72969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5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Payback Simples (~1,4 ano)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548640" y="3593592"/>
            <a:ext cx="2514600" cy="1920240"/>
          </a:xfrm>
          <a:prstGeom prst="roundRect">
            <a:avLst>
              <a:gd name="adj" fmla="val 3810"/>
            </a:avLst>
          </a:prstGeom>
          <a:solidFill>
            <a:srgbClr val="FFFFFF"/>
          </a:solidFill>
          <a:ln/>
          <a:effectLst>
            <a:outerShdw blurRad="76200" dist="25400" dir="5400000" algn="bl" rotWithShape="0">
              <a:srgbClr val="888888">
                <a:alpha val="25000"/>
              </a:srgbClr>
            </a:outerShdw>
          </a:effectLst>
        </p:spPr>
      </p:sp>
      <p:sp>
        <p:nvSpPr>
          <p:cNvPr id="17" name="Text 15"/>
          <p:cNvSpPr txBox="1"/>
          <p:nvPr/>
        </p:nvSpPr>
        <p:spPr>
          <a:xfrm>
            <a:off x="640080" y="3703320"/>
            <a:ext cx="2331720" cy="10561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02809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+261,6 %</a:t>
            </a:r>
            <a:endParaRPr lang="en-US" sz="2200" dirty="0"/>
          </a:p>
        </p:txBody>
      </p:sp>
      <p:sp>
        <p:nvSpPr>
          <p:cNvPr id="18" name="Text 16"/>
          <p:cNvSpPr txBox="1"/>
          <p:nvPr/>
        </p:nvSpPr>
        <p:spPr>
          <a:xfrm>
            <a:off x="640080" y="4745736"/>
            <a:ext cx="2331720" cy="72969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5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ROI em 5 Anos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3319272" y="3593592"/>
            <a:ext cx="2514600" cy="1920240"/>
          </a:xfrm>
          <a:prstGeom prst="roundRect">
            <a:avLst>
              <a:gd name="adj" fmla="val 3810"/>
            </a:avLst>
          </a:prstGeom>
          <a:solidFill>
            <a:srgbClr val="FFFFFF"/>
          </a:solidFill>
          <a:ln/>
          <a:effectLst>
            <a:outerShdw blurRad="76200" dist="25400" dir="5400000" algn="bl" rotWithShape="0">
              <a:srgbClr val="888888">
                <a:alpha val="25000"/>
              </a:srgbClr>
            </a:outerShdw>
          </a:effectLst>
        </p:spPr>
      </p:sp>
      <p:sp>
        <p:nvSpPr>
          <p:cNvPr id="20" name="Text 18"/>
          <p:cNvSpPr txBox="1"/>
          <p:nvPr/>
        </p:nvSpPr>
        <p:spPr>
          <a:xfrm>
            <a:off x="3410712" y="3703320"/>
            <a:ext cx="2331720" cy="10561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R$ 484.710</a:t>
            </a:r>
            <a:endParaRPr lang="en-US" sz="2200" dirty="0"/>
          </a:p>
        </p:txBody>
      </p:sp>
      <p:sp>
        <p:nvSpPr>
          <p:cNvPr id="21" name="Text 19"/>
          <p:cNvSpPr txBox="1"/>
          <p:nvPr/>
        </p:nvSpPr>
        <p:spPr>
          <a:xfrm>
            <a:off x="3410712" y="4745736"/>
            <a:ext cx="2331720" cy="72969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5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VPL (TMA 12% a.a.)</a:t>
            </a:r>
            <a:endParaRPr lang="en-US" sz="1050" dirty="0"/>
          </a:p>
        </p:txBody>
      </p:sp>
      <p:sp>
        <p:nvSpPr>
          <p:cNvPr id="22" name="Shape 20"/>
          <p:cNvSpPr/>
          <p:nvPr/>
        </p:nvSpPr>
        <p:spPr>
          <a:xfrm>
            <a:off x="6089904" y="3593592"/>
            <a:ext cx="2514600" cy="1920240"/>
          </a:xfrm>
          <a:prstGeom prst="roundRect">
            <a:avLst>
              <a:gd name="adj" fmla="val 3810"/>
            </a:avLst>
          </a:prstGeom>
          <a:solidFill>
            <a:srgbClr val="FFFFFF"/>
          </a:solidFill>
          <a:ln/>
          <a:effectLst>
            <a:outerShdw blurRad="76200" dist="25400" dir="5400000" algn="bl" rotWithShape="0">
              <a:srgbClr val="888888">
                <a:alpha val="25000"/>
              </a:srgbClr>
            </a:outerShdw>
          </a:effectLst>
        </p:spPr>
      </p:sp>
      <p:sp>
        <p:nvSpPr>
          <p:cNvPr id="23" name="Text 21"/>
          <p:cNvSpPr txBox="1"/>
          <p:nvPr/>
        </p:nvSpPr>
        <p:spPr>
          <a:xfrm>
            <a:off x="6181344" y="3703320"/>
            <a:ext cx="2331720" cy="10561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290.249 kWh/ano</a:t>
            </a:r>
            <a:endParaRPr lang="en-US" sz="2200" dirty="0"/>
          </a:p>
        </p:txBody>
      </p:sp>
      <p:sp>
        <p:nvSpPr>
          <p:cNvPr id="24" name="Text 22"/>
          <p:cNvSpPr txBox="1"/>
          <p:nvPr/>
        </p:nvSpPr>
        <p:spPr>
          <a:xfrm>
            <a:off x="6181344" y="4745736"/>
            <a:ext cx="2331720" cy="72969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5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Energia Economizada</a:t>
            </a:r>
            <a:endParaRPr lang="en-US" sz="1050" dirty="0"/>
          </a:p>
        </p:txBody>
      </p:sp>
      <p:sp>
        <p:nvSpPr>
          <p:cNvPr id="25" name="Shape 23"/>
          <p:cNvSpPr/>
          <p:nvPr/>
        </p:nvSpPr>
        <p:spPr>
          <a:xfrm>
            <a:off x="8860536" y="3593592"/>
            <a:ext cx="2514600" cy="1920240"/>
          </a:xfrm>
          <a:prstGeom prst="roundRect">
            <a:avLst>
              <a:gd name="adj" fmla="val 3810"/>
            </a:avLst>
          </a:prstGeom>
          <a:solidFill>
            <a:srgbClr val="FFFFFF"/>
          </a:solidFill>
          <a:ln/>
          <a:effectLst>
            <a:outerShdw blurRad="76200" dist="25400" dir="5400000" algn="bl" rotWithShape="0">
              <a:srgbClr val="888888">
                <a:alpha val="25000"/>
              </a:srgbClr>
            </a:outerShdw>
          </a:effectLst>
        </p:spPr>
      </p:sp>
      <p:sp>
        <p:nvSpPr>
          <p:cNvPr id="26" name="Text 24"/>
          <p:cNvSpPr txBox="1"/>
          <p:nvPr/>
        </p:nvSpPr>
        <p:spPr>
          <a:xfrm>
            <a:off x="8951976" y="3703320"/>
            <a:ext cx="2331720" cy="10561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>
                <a:solidFill>
                  <a:srgbClr val="02809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25,0 tCO2/ano</a:t>
            </a:r>
            <a:endParaRPr lang="en-US" sz="2200" dirty="0"/>
          </a:p>
        </p:txBody>
      </p:sp>
      <p:sp>
        <p:nvSpPr>
          <p:cNvPr id="27" name="Text 25"/>
          <p:cNvSpPr txBox="1"/>
          <p:nvPr/>
        </p:nvSpPr>
        <p:spPr>
          <a:xfrm>
            <a:off x="8951976" y="4745736"/>
            <a:ext cx="2331720" cy="72969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5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Descarbonização ESG</a:t>
            </a:r>
            <a:endParaRPr lang="en-US" sz="1050" dirty="0"/>
          </a:p>
        </p:txBody>
      </p:sp>
      <p:sp>
        <p:nvSpPr>
          <p:cNvPr id="28" name="Text 26"/>
          <p:cNvSpPr txBox="1"/>
          <p:nvPr/>
        </p:nvSpPr>
        <p:spPr>
          <a:xfrm>
            <a:off x="457200" y="6473952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Novo Shopping — Retrofit HVAC Inteligente</a:t>
            </a:r>
            <a:endParaRPr lang="en-US" sz="900" dirty="0"/>
          </a:p>
        </p:txBody>
      </p:sp>
      <p:sp>
        <p:nvSpPr>
          <p:cNvPr id="29" name="Text 27"/>
          <p:cNvSpPr txBox="1"/>
          <p:nvPr/>
        </p:nvSpPr>
        <p:spPr>
          <a:xfrm>
            <a:off x="11000232" y="6473952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/ 15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110916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Diagnóstico da Instalação Existente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91440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Cenário anterior — controle analógico e descentralizado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548640" y="1508760"/>
            <a:ext cx="457200" cy="45720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548640" y="15087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1188720" y="1481328"/>
            <a:ext cx="6309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Acionamento Simultâneo Forçado</a:t>
            </a:r>
            <a:endParaRPr lang="en-US" sz="1350" dirty="0"/>
          </a:p>
        </p:txBody>
      </p:sp>
      <p:sp>
        <p:nvSpPr>
          <p:cNvPr id="7" name="Text 5"/>
          <p:cNvSpPr txBox="1"/>
          <p:nvPr/>
        </p:nvSpPr>
        <p:spPr>
          <a:xfrm>
            <a:off x="1188720" y="1783080"/>
            <a:ext cx="6309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Ambas condensadoras ligam juntas a 100% de carga, gerando pico de corrente de partida.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548640" y="2560320"/>
            <a:ext cx="457200" cy="45720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548640" y="25603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00" dirty="0"/>
          </a:p>
        </p:txBody>
      </p:sp>
      <p:sp>
        <p:nvSpPr>
          <p:cNvPr id="10" name="Text 8"/>
          <p:cNvSpPr txBox="1"/>
          <p:nvPr/>
        </p:nvSpPr>
        <p:spPr>
          <a:xfrm>
            <a:off x="1188720" y="2532888"/>
            <a:ext cx="6309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Efeito "Chattering"</a:t>
            </a:r>
            <a:endParaRPr lang="en-US" sz="1350" dirty="0"/>
          </a:p>
        </p:txBody>
      </p:sp>
      <p:sp>
        <p:nvSpPr>
          <p:cNvPr id="11" name="Text 9"/>
          <p:cNvSpPr txBox="1"/>
          <p:nvPr/>
        </p:nvSpPr>
        <p:spPr>
          <a:xfrm>
            <a:off x="1188720" y="2834640"/>
            <a:ext cx="6309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Liga/desliga constante dos compressores de grande porte sob carga plena.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548640" y="3611880"/>
            <a:ext cx="457200" cy="45720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548640" y="36118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1188720" y="3584448"/>
            <a:ext cx="6309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Desgaste Mecânico Desbalanceado</a:t>
            </a:r>
            <a:endParaRPr lang="en-US" sz="1350" dirty="0"/>
          </a:p>
        </p:txBody>
      </p:sp>
      <p:sp>
        <p:nvSpPr>
          <p:cNvPr id="15" name="Text 13"/>
          <p:cNvSpPr txBox="1"/>
          <p:nvPr/>
        </p:nvSpPr>
        <p:spPr>
          <a:xfrm>
            <a:off x="1188720" y="3886200"/>
            <a:ext cx="6309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Inexistência de rodízio de horas entre compressores.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548640" y="4663440"/>
            <a:ext cx="457200" cy="45720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548640" y="46634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300" dirty="0"/>
          </a:p>
        </p:txBody>
      </p:sp>
      <p:sp>
        <p:nvSpPr>
          <p:cNvPr id="18" name="Text 16"/>
          <p:cNvSpPr txBox="1"/>
          <p:nvPr/>
        </p:nvSpPr>
        <p:spPr>
          <a:xfrm>
            <a:off x="1188720" y="4636008"/>
            <a:ext cx="6309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Alto Duty Cycle Contínuo</a:t>
            </a:r>
            <a:endParaRPr lang="en-US" sz="1350" dirty="0"/>
          </a:p>
        </p:txBody>
      </p:sp>
      <p:sp>
        <p:nvSpPr>
          <p:cNvPr id="19" name="Text 17"/>
          <p:cNvSpPr txBox="1"/>
          <p:nvPr/>
        </p:nvSpPr>
        <p:spPr>
          <a:xfrm>
            <a:off x="1188720" y="4937760"/>
            <a:ext cx="6309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Ambas as UCs ciclam com 70% de duty cycle o tempo todo.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7315200" y="1508760"/>
            <a:ext cx="4343400" cy="4206240"/>
          </a:xfrm>
          <a:prstGeom prst="roundRect">
            <a:avLst>
              <a:gd name="adj" fmla="val 1739"/>
            </a:avLst>
          </a:prstGeom>
          <a:solidFill>
            <a:srgbClr val="1E2761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7589520" y="1737360"/>
            <a:ext cx="3840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Custo do Cenário Atual</a:t>
            </a:r>
            <a:endParaRPr lang="en-US" sz="1500" dirty="0"/>
          </a:p>
        </p:txBody>
      </p:sp>
      <p:sp>
        <p:nvSpPr>
          <p:cNvPr id="22" name="Text 20"/>
          <p:cNvSpPr txBox="1"/>
          <p:nvPr/>
        </p:nvSpPr>
        <p:spPr>
          <a:xfrm>
            <a:off x="7589520" y="2331720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Consumo mensal</a:t>
            </a:r>
            <a:endParaRPr lang="en-US" sz="1200" dirty="0"/>
          </a:p>
        </p:txBody>
      </p:sp>
      <p:sp>
        <p:nvSpPr>
          <p:cNvPr id="23" name="Text 21"/>
          <p:cNvSpPr txBox="1"/>
          <p:nvPr/>
        </p:nvSpPr>
        <p:spPr>
          <a:xfrm>
            <a:off x="9692640" y="2331720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237.000 kWh</a:t>
            </a:r>
            <a:endParaRPr lang="en-US" sz="1500" dirty="0"/>
          </a:p>
        </p:txBody>
      </p:sp>
      <p:sp>
        <p:nvSpPr>
          <p:cNvPr id="24" name="Shape 22"/>
          <p:cNvSpPr/>
          <p:nvPr/>
        </p:nvSpPr>
        <p:spPr>
          <a:xfrm>
            <a:off x="7589520" y="2834640"/>
            <a:ext cx="3794760" cy="0"/>
          </a:xfrm>
          <a:prstGeom prst="line">
            <a:avLst/>
          </a:prstGeom>
          <a:noFill/>
          <a:ln w="12700">
            <a:solidFill>
              <a:srgbClr val="141B45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7589520" y="3017520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 mensal</a:t>
            </a:r>
            <a:endParaRPr lang="en-US" sz="1200" dirty="0"/>
          </a:p>
        </p:txBody>
      </p:sp>
      <p:sp>
        <p:nvSpPr>
          <p:cNvPr id="26" name="Text 24"/>
          <p:cNvSpPr txBox="1"/>
          <p:nvPr/>
        </p:nvSpPr>
        <p:spPr>
          <a:xfrm>
            <a:off x="9692640" y="3017520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R$ 177.749,96</a:t>
            </a:r>
            <a:endParaRPr lang="en-US" sz="1500" dirty="0"/>
          </a:p>
        </p:txBody>
      </p:sp>
      <p:sp>
        <p:nvSpPr>
          <p:cNvPr id="27" name="Shape 25"/>
          <p:cNvSpPr/>
          <p:nvPr/>
        </p:nvSpPr>
        <p:spPr>
          <a:xfrm>
            <a:off x="7589520" y="3520440"/>
            <a:ext cx="3794760" cy="0"/>
          </a:xfrm>
          <a:prstGeom prst="line">
            <a:avLst/>
          </a:prstGeom>
          <a:noFill/>
          <a:ln w="12700">
            <a:solidFill>
              <a:srgbClr val="141B45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7589520" y="3703320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 anual</a:t>
            </a:r>
            <a:endParaRPr lang="en-US" sz="1200" dirty="0"/>
          </a:p>
        </p:txBody>
      </p:sp>
      <p:sp>
        <p:nvSpPr>
          <p:cNvPr id="29" name="Text 27"/>
          <p:cNvSpPr txBox="1"/>
          <p:nvPr/>
        </p:nvSpPr>
        <p:spPr>
          <a:xfrm>
            <a:off x="9692640" y="3703320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R$ 2.132.999,57</a:t>
            </a:r>
            <a:endParaRPr lang="en-US" sz="1500" dirty="0"/>
          </a:p>
        </p:txBody>
      </p:sp>
      <p:sp>
        <p:nvSpPr>
          <p:cNvPr id="30" name="Shape 28"/>
          <p:cNvSpPr/>
          <p:nvPr/>
        </p:nvSpPr>
        <p:spPr>
          <a:xfrm>
            <a:off x="7589520" y="4206240"/>
            <a:ext cx="3794760" cy="0"/>
          </a:xfrm>
          <a:prstGeom prst="line">
            <a:avLst/>
          </a:prstGeom>
          <a:noFill/>
          <a:ln w="12700">
            <a:solidFill>
              <a:srgbClr val="141B45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7589520" y="4526280"/>
            <a:ext cx="3840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38 máquinas, sem monitoramento centralizado ou telemetria em tempo real</a:t>
            </a:r>
            <a:endParaRPr lang="en-US" sz="1050" dirty="0"/>
          </a:p>
        </p:txBody>
      </p:sp>
      <p:sp>
        <p:nvSpPr>
          <p:cNvPr id="32" name="Text 30"/>
          <p:cNvSpPr txBox="1"/>
          <p:nvPr/>
        </p:nvSpPr>
        <p:spPr>
          <a:xfrm>
            <a:off x="457200" y="6473952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Novo Shopping — Retrofit HVAC Inteligente</a:t>
            </a:r>
            <a:endParaRPr lang="en-US" sz="900" dirty="0"/>
          </a:p>
        </p:txBody>
      </p:sp>
      <p:sp>
        <p:nvSpPr>
          <p:cNvPr id="33" name="Text 31"/>
          <p:cNvSpPr txBox="1"/>
          <p:nvPr/>
        </p:nvSpPr>
        <p:spPr>
          <a:xfrm>
            <a:off x="11000232" y="6473952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/ 15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4F6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110916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Solução de Engenharia Proposta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91440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Retrofit térmico por CLP inteligente — 4 pilares tecnológicos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548640" y="1463040"/>
            <a:ext cx="5394960" cy="2103120"/>
          </a:xfrm>
          <a:prstGeom prst="roundRect">
            <a:avLst>
              <a:gd name="adj" fmla="val 3478"/>
            </a:avLst>
          </a:prstGeom>
          <a:solidFill>
            <a:srgbClr val="FFFFFF"/>
          </a:solidFill>
          <a:ln/>
          <a:effectLst>
            <a:outerShdw blurRad="63500" dist="25400" dir="5400000" algn="bl" rotWithShape="0">
              <a:srgbClr val="888888">
                <a:alpha val="20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777240" y="1645920"/>
            <a:ext cx="914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CADCF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01</a:t>
            </a:r>
            <a:endParaRPr lang="en-US" sz="3000" dirty="0"/>
          </a:p>
        </p:txBody>
      </p:sp>
      <p:sp>
        <p:nvSpPr>
          <p:cNvPr id="6" name="Text 4"/>
          <p:cNvSpPr txBox="1"/>
          <p:nvPr/>
        </p:nvSpPr>
        <p:spPr>
          <a:xfrm>
            <a:off x="1600200" y="1664208"/>
            <a:ext cx="4114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Controle Proporcional em 2 Estágios</a:t>
            </a:r>
            <a:endParaRPr lang="en-US" sz="1350" dirty="0"/>
          </a:p>
        </p:txBody>
      </p:sp>
      <p:sp>
        <p:nvSpPr>
          <p:cNvPr id="7" name="Text 5"/>
          <p:cNvSpPr txBox="1"/>
          <p:nvPr/>
        </p:nvSpPr>
        <p:spPr>
          <a:xfrm>
            <a:off x="1600200" y="2148840"/>
            <a:ext cx="41148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Fim do acionamento síncrono. Na estabilidade térmica, opera apenas a unidade Mestre; a Escrava só entra em picos de sobrecarga.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6263640" y="1463040"/>
            <a:ext cx="5394960" cy="2103120"/>
          </a:xfrm>
          <a:prstGeom prst="roundRect">
            <a:avLst>
              <a:gd name="adj" fmla="val 3478"/>
            </a:avLst>
          </a:prstGeom>
          <a:solidFill>
            <a:srgbClr val="FFFFFF"/>
          </a:solidFill>
          <a:ln/>
          <a:effectLst>
            <a:outerShdw blurRad="63500" dist="25400" dir="5400000" algn="bl" rotWithShape="0">
              <a:srgbClr val="888888">
                <a:alpha val="20000"/>
              </a:srgbClr>
            </a:outerShdw>
          </a:effectLst>
        </p:spPr>
      </p:sp>
      <p:sp>
        <p:nvSpPr>
          <p:cNvPr id="9" name="Text 7"/>
          <p:cNvSpPr txBox="1"/>
          <p:nvPr/>
        </p:nvSpPr>
        <p:spPr>
          <a:xfrm>
            <a:off x="6492240" y="1645920"/>
            <a:ext cx="914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CADCF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02</a:t>
            </a:r>
            <a:endParaRPr lang="en-US" sz="3000" dirty="0"/>
          </a:p>
        </p:txBody>
      </p:sp>
      <p:sp>
        <p:nvSpPr>
          <p:cNvPr id="10" name="Text 8"/>
          <p:cNvSpPr txBox="1"/>
          <p:nvPr/>
        </p:nvSpPr>
        <p:spPr>
          <a:xfrm>
            <a:off x="7315200" y="1664208"/>
            <a:ext cx="4114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Rodízio Automático a Cada 12h</a:t>
            </a:r>
            <a:endParaRPr lang="en-US" sz="1350" dirty="0"/>
          </a:p>
        </p:txBody>
      </p:sp>
      <p:sp>
        <p:nvSpPr>
          <p:cNvPr id="11" name="Text 9"/>
          <p:cNvSpPr txBox="1"/>
          <p:nvPr/>
        </p:nvSpPr>
        <p:spPr>
          <a:xfrm>
            <a:off x="7315200" y="2148840"/>
            <a:ext cx="41148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CLP alterna Mestre e Escrava a cada 12 horas, equalizando o desgaste e as horas de vida útil dos compressores.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548640" y="3886200"/>
            <a:ext cx="5394960" cy="2103120"/>
          </a:xfrm>
          <a:prstGeom prst="roundRect">
            <a:avLst>
              <a:gd name="adj" fmla="val 3478"/>
            </a:avLst>
          </a:prstGeom>
          <a:solidFill>
            <a:srgbClr val="FFFFFF"/>
          </a:solidFill>
          <a:ln/>
          <a:effectLst>
            <a:outerShdw blurRad="63500" dist="25400" dir="5400000" algn="bl" rotWithShape="0">
              <a:srgbClr val="888888">
                <a:alpha val="20000"/>
              </a:srgbClr>
            </a:outerShdw>
          </a:effectLst>
        </p:spPr>
      </p:sp>
      <p:sp>
        <p:nvSpPr>
          <p:cNvPr id="13" name="Text 11"/>
          <p:cNvSpPr txBox="1"/>
          <p:nvPr/>
        </p:nvSpPr>
        <p:spPr>
          <a:xfrm>
            <a:off x="777240" y="4069080"/>
            <a:ext cx="914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CADCF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03</a:t>
            </a:r>
            <a:endParaRPr lang="en-US" sz="3000" dirty="0"/>
          </a:p>
        </p:txBody>
      </p:sp>
      <p:sp>
        <p:nvSpPr>
          <p:cNvPr id="14" name="Text 12"/>
          <p:cNvSpPr txBox="1"/>
          <p:nvPr/>
        </p:nvSpPr>
        <p:spPr>
          <a:xfrm>
            <a:off x="1600200" y="4087368"/>
            <a:ext cx="4114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Redundância Ativa 100%</a:t>
            </a:r>
            <a:endParaRPr lang="en-US" sz="1350" dirty="0"/>
          </a:p>
        </p:txBody>
      </p:sp>
      <p:sp>
        <p:nvSpPr>
          <p:cNvPr id="15" name="Text 13"/>
          <p:cNvSpPr txBox="1"/>
          <p:nvPr/>
        </p:nvSpPr>
        <p:spPr>
          <a:xfrm>
            <a:off x="1600200" y="4572000"/>
            <a:ext cx="41148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Monitoramento contínuo de corrente e fluxo. Em falha da Mestre, a Escrava assume em menos de 1 segundo.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6263640" y="3886200"/>
            <a:ext cx="5394960" cy="2103120"/>
          </a:xfrm>
          <a:prstGeom prst="roundRect">
            <a:avLst>
              <a:gd name="adj" fmla="val 3478"/>
            </a:avLst>
          </a:prstGeom>
          <a:solidFill>
            <a:srgbClr val="FFFFFF"/>
          </a:solidFill>
          <a:ln/>
          <a:effectLst>
            <a:outerShdw blurRad="63500" dist="25400" dir="5400000" algn="bl" rotWithShape="0">
              <a:srgbClr val="888888">
                <a:alpha val="20000"/>
              </a:srgbClr>
            </a:outerShdw>
          </a:effectLst>
        </p:spPr>
      </p:sp>
      <p:sp>
        <p:nvSpPr>
          <p:cNvPr id="17" name="Text 15"/>
          <p:cNvSpPr txBox="1"/>
          <p:nvPr/>
        </p:nvSpPr>
        <p:spPr>
          <a:xfrm>
            <a:off x="6492240" y="4069080"/>
            <a:ext cx="914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CADCF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04</a:t>
            </a:r>
            <a:endParaRPr lang="en-US" sz="3000" dirty="0"/>
          </a:p>
        </p:txBody>
      </p:sp>
      <p:sp>
        <p:nvSpPr>
          <p:cNvPr id="18" name="Text 16"/>
          <p:cNvSpPr txBox="1"/>
          <p:nvPr/>
        </p:nvSpPr>
        <p:spPr>
          <a:xfrm>
            <a:off x="7315200" y="4087368"/>
            <a:ext cx="4114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Gestão Centralizada Remota</a:t>
            </a:r>
            <a:endParaRPr lang="en-US" sz="1350" dirty="0"/>
          </a:p>
        </p:txBody>
      </p:sp>
      <p:sp>
        <p:nvSpPr>
          <p:cNvPr id="19" name="Text 17"/>
          <p:cNvSpPr txBox="1"/>
          <p:nvPr/>
        </p:nvSpPr>
        <p:spPr>
          <a:xfrm>
            <a:off x="7315200" y="4572000"/>
            <a:ext cx="41148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Telemetria e supervisão em tempo real de temperatura, alarmes e ajustes de setpoint à distância.</a:t>
            </a:r>
            <a:endParaRPr lang="en-US" sz="1100" dirty="0"/>
          </a:p>
        </p:txBody>
      </p:sp>
      <p:sp>
        <p:nvSpPr>
          <p:cNvPr id="20" name="Text 18"/>
          <p:cNvSpPr txBox="1"/>
          <p:nvPr/>
        </p:nvSpPr>
        <p:spPr>
          <a:xfrm>
            <a:off x="457200" y="6473952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Novo Shopping — Retrofit HVAC Inteligente</a:t>
            </a:r>
            <a:endParaRPr lang="en-US" sz="900" dirty="0"/>
          </a:p>
        </p:txBody>
      </p:sp>
      <p:sp>
        <p:nvSpPr>
          <p:cNvPr id="21" name="Text 19"/>
          <p:cNvSpPr txBox="1"/>
          <p:nvPr/>
        </p:nvSpPr>
        <p:spPr>
          <a:xfrm>
            <a:off x="11000232" y="6473952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/ 15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110916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Metodologia de Cálculo e Fórmulas Termoelétricas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051560"/>
            <a:ext cx="5303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Premissas Elétricas</a:t>
            </a:r>
            <a:endParaRPr lang="en-US" sz="15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463040"/>
            <a:ext cx="53035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40000"/>
              </a:lnSpc>
              <a:buNone/>
            </a:pPr>
            <a:r>
              <a:rPr lang="en-US" sz="1250" b="1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Tensão de alimentação: </a:t>
            </a:r>
            <a:r>
              <a:rPr lang="en-US" sz="125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380V trifásico
</a:t>
            </a:r>
            <a:r>
              <a:rPr lang="en-US" sz="1250" b="1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Fator de potência (cos phi): </a:t>
            </a:r>
            <a:r>
              <a:rPr lang="en-US" sz="125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0,95
</a:t>
            </a:r>
            <a:r>
              <a:rPr lang="en-US" sz="1250" b="1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Corrente nominal: </a:t>
            </a:r>
            <a:r>
              <a:rPr lang="en-US" sz="125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= (P_total x 1000) / (raiz(3) x 380 x 0,95)
</a:t>
            </a:r>
            <a:r>
              <a:rPr lang="en-US" sz="1250" b="1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Constante mensal: </a:t>
            </a:r>
            <a:r>
              <a:rPr lang="en-US" sz="125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4,33 semanas/mês</a:t>
            </a:r>
            <a:endParaRPr lang="en-US" sz="125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3063240"/>
            <a:ext cx="5303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Jornada Diária (12h de Operação)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548640" y="3474720"/>
            <a:ext cx="5303520" cy="822960"/>
          </a:xfrm>
          <a:prstGeom prst="roundRect">
            <a:avLst>
              <a:gd name="adj" fmla="val 6667"/>
            </a:avLst>
          </a:prstGeom>
          <a:solidFill>
            <a:srgbClr val="CADCFC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731520" y="3566160"/>
            <a:ext cx="4937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Pull-Down — 1,5h
</a:t>
            </a:r>
            <a:r>
              <a:rPr lang="en-US" sz="105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Rampa inicial: 100% dos compressores em conjunto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548640" y="4434840"/>
            <a:ext cx="5303520" cy="822960"/>
          </a:xfrm>
          <a:prstGeom prst="roundRect">
            <a:avLst>
              <a:gd name="adj" fmla="val 6667"/>
            </a:avLst>
          </a:prstGeom>
          <a:solidFill>
            <a:srgbClr val="00A896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731520" y="4526280"/>
            <a:ext cx="4937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Manutenção — 10,5h
</a:t>
            </a:r>
            <a:r>
              <a:rPr lang="en-US" sz="10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Temperatura estabilizada: economia do CLP atua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6263640" y="1051560"/>
            <a:ext cx="5394960" cy="4206240"/>
          </a:xfrm>
          <a:prstGeom prst="roundRect">
            <a:avLst>
              <a:gd name="adj" fmla="val 1739"/>
            </a:avLst>
          </a:prstGeom>
          <a:solidFill>
            <a:srgbClr val="1E2761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6537960" y="1280160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Equações de Consumo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6537960" y="1783080"/>
            <a:ext cx="4846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0A8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Cenário Antes (Analógico)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6537960" y="2103120"/>
            <a:ext cx="48463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CADC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Consumo = Qtd_UC x Pot_UC x [min(Horas,Setup) + max(0,Horas-Setup) x DC_Antes]</a:t>
            </a:r>
            <a:endParaRPr lang="en-US" sz="1050" dirty="0"/>
          </a:p>
          <a:p>
            <a:pPr marL="0" indent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CADC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DC_Antes = 0,70 (70% em ambas as UCs)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6537960" y="3200400"/>
            <a:ext cx="4846320" cy="0"/>
          </a:xfrm>
          <a:prstGeom prst="line">
            <a:avLst/>
          </a:prstGeom>
          <a:noFill/>
          <a:ln w="12700">
            <a:solidFill>
              <a:srgbClr val="028090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6537960" y="3337560"/>
            <a:ext cx="4846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0A8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Cenário Depois (CLP Inteligente)</a:t>
            </a:r>
            <a:endParaRPr lang="en-US" sz="1200" dirty="0"/>
          </a:p>
        </p:txBody>
      </p:sp>
      <p:sp>
        <p:nvSpPr>
          <p:cNvPr id="16" name="Text 14"/>
          <p:cNvSpPr txBox="1"/>
          <p:nvPr/>
        </p:nvSpPr>
        <p:spPr>
          <a:xfrm>
            <a:off x="6537960" y="3657600"/>
            <a:ext cx="48463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1000" dirty="0">
                <a:solidFill>
                  <a:srgbClr val="CADC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Consumo = Qtd_UC x Pot_UC x min(Horas,Setup) + [(1 x Pot_UC x DC_Mestre) + (Qtd_UC-1) x Pot_UC x DC_Escrava] x max(0,Horas-Setup)</a:t>
            </a:r>
            <a:endParaRPr lang="en-US" sz="1000" dirty="0"/>
          </a:p>
          <a:p>
            <a:pPr marL="0" indent="0">
              <a:lnSpc>
                <a:spcPct val="130000"/>
              </a:lnSpc>
              <a:buNone/>
            </a:pPr>
            <a:r>
              <a:rPr lang="en-US" sz="1000" dirty="0">
                <a:solidFill>
                  <a:srgbClr val="CADC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DC_Mestre = 0,70 | DC_Escrava = 0,50</a:t>
            </a:r>
            <a:endParaRPr lang="en-US" sz="1000" dirty="0"/>
          </a:p>
        </p:txBody>
      </p:sp>
      <p:sp>
        <p:nvSpPr>
          <p:cNvPr id="17" name="Text 15"/>
          <p:cNvSpPr txBox="1"/>
          <p:nvPr/>
        </p:nvSpPr>
        <p:spPr>
          <a:xfrm>
            <a:off x="457200" y="6473952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Novo Shopping — Retrofit HVAC Inteligente</a:t>
            </a:r>
            <a:endParaRPr lang="en-US" sz="900" dirty="0"/>
          </a:p>
        </p:txBody>
      </p:sp>
      <p:sp>
        <p:nvSpPr>
          <p:cNvPr id="18" name="Text 16"/>
          <p:cNvSpPr txBox="1"/>
          <p:nvPr/>
        </p:nvSpPr>
        <p:spPr>
          <a:xfrm>
            <a:off x="11000232" y="6473952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/ 15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4F6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110916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Parâmetros Operacionais Padrão (Baseline)</a:t>
            </a:r>
            <a:endParaRPr lang="en-US" sz="28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216483421"/>
              </p:ext>
            </p:extLst>
          </p:nvPr>
        </p:nvGraphicFramePr>
        <p:xfrm>
          <a:off x="548640" y="1051560"/>
          <a:ext cx="11091672" cy="5120640"/>
        </p:xfrm>
        <a:graphic>
          <a:graphicData uri="http://schemas.openxmlformats.org/drawingml/2006/table">
            <a:tbl>
              <a:tblPr/>
              <a:tblGrid>
                <a:gridCol w="61264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3774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0116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6576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Parâmetro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Valor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Unidade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Setpoint de Temperatura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22,0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°C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Histerese de Controle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EDEFF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1,0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EDEFF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°C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EDEFF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Tempo de Revezamento Mestre/Escrava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12,0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horas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Tarifa de Energia Elétrica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EDEFF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R$ 0,75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EDEFF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R$/kWh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EDEFF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Investimento CAPEX Total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R$ 301.000,00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R$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Duty Cycle Antes (Ambas UCs)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EDEFF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0.70 (70%)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EDEFF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fração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EDEFF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Duty Cycle Mestre Depois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0.70 (70%)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fração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Duty Cycle Escrava Depois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EDEFF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0.50 (50%)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EDEFF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fração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EDEFF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Horas de Operação (todos os dias)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12,0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horas/dia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Tempo de Pull-Down (Setup)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EDEFF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1,5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EDEFF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horas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EDEFF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Quantidade de Climatizadores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38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unidades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Taxa Mínima de Atratividade (TMA)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EDEFF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12,0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EDEFF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% a.a.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EDEFF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Fator de Emissão de Carbono (SIN/MCTI)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0,086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kg CO2/kWh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</a:tbl>
          </a:graphicData>
        </a:graphic>
      </p:graphicFrame>
      <p:sp>
        <p:nvSpPr>
          <p:cNvPr id="4" name="Text 1"/>
          <p:cNvSpPr txBox="1"/>
          <p:nvPr/>
        </p:nvSpPr>
        <p:spPr>
          <a:xfrm>
            <a:off x="457200" y="6473952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Novo Shopping — Retrofit HVAC Inteligente</a:t>
            </a:r>
            <a:endParaRPr lang="en-US" sz="900" dirty="0"/>
          </a:p>
        </p:txBody>
      </p:sp>
      <p:sp>
        <p:nvSpPr>
          <p:cNvPr id="5" name="Text 2"/>
          <p:cNvSpPr txBox="1"/>
          <p:nvPr/>
        </p:nvSpPr>
        <p:spPr>
          <a:xfrm>
            <a:off x="11000232" y="6473952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/ 15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110916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Matriz de Correlação &amp; Sensibilidade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914400"/>
            <a:ext cx="9601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Como cada variável impacta consumo, custo e retorno financeiro</a:t>
            </a:r>
            <a:endParaRPr lang="en-US" sz="13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417320"/>
            <a:ext cx="5394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— Tarifa de Energia (R$/kWh)</a:t>
            </a:r>
            <a:endParaRPr lang="en-US" sz="1250" dirty="0"/>
          </a:p>
        </p:txBody>
      </p:sp>
      <p:graphicFrame>
        <p:nvGraphicFramePr>
          <p:cNvPr id="5" name="Chart 0"/>
          <p:cNvGraphicFramePr/>
          <p:nvPr/>
        </p:nvGraphicFramePr>
        <p:xfrm>
          <a:off x="548640" y="1783080"/>
          <a:ext cx="5394960" cy="196596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6" name="Text 3"/>
          <p:cNvSpPr txBox="1"/>
          <p:nvPr/>
        </p:nvSpPr>
        <p:spPr>
          <a:xfrm>
            <a:off x="6263640" y="1417320"/>
            <a:ext cx="5394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— Duty Cycle da Unidade Escrava</a:t>
            </a:r>
            <a:endParaRPr lang="en-US" sz="1250" dirty="0"/>
          </a:p>
        </p:txBody>
      </p:sp>
      <p:graphicFrame>
        <p:nvGraphicFramePr>
          <p:cNvPr id="7" name="Chart 1"/>
          <p:cNvGraphicFramePr/>
          <p:nvPr/>
        </p:nvGraphicFramePr>
        <p:xfrm>
          <a:off x="6263640" y="1783080"/>
          <a:ext cx="5394960" cy="196596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sp>
        <p:nvSpPr>
          <p:cNvPr id="8" name="Shape 4"/>
          <p:cNvSpPr/>
          <p:nvPr/>
        </p:nvSpPr>
        <p:spPr>
          <a:xfrm>
            <a:off x="548640" y="3886200"/>
            <a:ext cx="11064240" cy="914400"/>
          </a:xfrm>
          <a:prstGeom prst="roundRect">
            <a:avLst>
              <a:gd name="adj" fmla="val 6000"/>
            </a:avLst>
          </a:prstGeom>
          <a:solidFill>
            <a:srgbClr val="F4F6FA"/>
          </a:solidFill>
          <a:ln/>
        </p:spPr>
      </p:sp>
      <p:sp>
        <p:nvSpPr>
          <p:cNvPr id="9" name="Text 5"/>
          <p:cNvSpPr txBox="1"/>
          <p:nvPr/>
        </p:nvSpPr>
        <p:spPr>
          <a:xfrm>
            <a:off x="777240" y="4069080"/>
            <a:ext cx="106070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10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Horas de operação: </a:t>
            </a:r>
            <a:r>
              <a:rPr lang="en-US" sz="105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+2h/dia (Black Friday/Natal) eleva a economia para R$ 259.294,79/ano (payback 13,9 meses).   </a:t>
            </a:r>
            <a:r>
              <a:rPr lang="en-US" sz="10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CAPEX: </a:t>
            </a:r>
            <a:r>
              <a:rPr lang="en-US" sz="105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cada R$ 50 mil a mais/menos desloca o payback em ~2,7 meses, sem alterar a economia física gerada.</a:t>
            </a:r>
            <a:endParaRPr lang="en-US" sz="1050" dirty="0"/>
          </a:p>
        </p:txBody>
      </p:sp>
      <p:sp>
        <p:nvSpPr>
          <p:cNvPr id="10" name="Shape 6"/>
          <p:cNvSpPr/>
          <p:nvPr/>
        </p:nvSpPr>
        <p:spPr>
          <a:xfrm>
            <a:off x="548640" y="4937760"/>
            <a:ext cx="11064240" cy="1234440"/>
          </a:xfrm>
          <a:prstGeom prst="roundRect">
            <a:avLst>
              <a:gd name="adj" fmla="val 4444"/>
            </a:avLst>
          </a:prstGeom>
          <a:solidFill>
            <a:srgbClr val="1E2761"/>
          </a:solidFill>
          <a:ln/>
        </p:spPr>
      </p:sp>
      <p:sp>
        <p:nvSpPr>
          <p:cNvPr id="11" name="Text 7"/>
          <p:cNvSpPr txBox="1"/>
          <p:nvPr/>
        </p:nvSpPr>
        <p:spPr>
          <a:xfrm>
            <a:off x="822960" y="5120640"/>
            <a:ext cx="10515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350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Escala linear por máquina retrofitada: </a:t>
            </a:r>
            <a:r>
              <a:rPr lang="en-US" sz="11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cada climatizador gera R$ 477,38/mês (R$ 5.728,59/ano) de economia líquida individual — 10 máquinas = R$ 57.285,90/ano; 38 máquinas (parque total) </a:t>
            </a:r>
            <a:r>
              <a:rPr lang="en-US" sz="115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= R$ 217.686,42/</a:t>
            </a:r>
            <a:r>
              <a:rPr lang="en-US" sz="11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ano.</a:t>
            </a:r>
            <a:endParaRPr lang="en-US" sz="1150" dirty="0"/>
          </a:p>
        </p:txBody>
      </p:sp>
      <p:sp>
        <p:nvSpPr>
          <p:cNvPr id="12" name="Text 8"/>
          <p:cNvSpPr txBox="1"/>
          <p:nvPr/>
        </p:nvSpPr>
        <p:spPr>
          <a:xfrm>
            <a:off x="457200" y="6473952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Novo Shopping — Retrofit HVAC Inteligente</a:t>
            </a:r>
            <a:endParaRPr lang="en-US" sz="900" dirty="0"/>
          </a:p>
        </p:txBody>
      </p:sp>
      <p:sp>
        <p:nvSpPr>
          <p:cNvPr id="13" name="Text 9"/>
          <p:cNvSpPr txBox="1"/>
          <p:nvPr/>
        </p:nvSpPr>
        <p:spPr>
          <a:xfrm>
            <a:off x="11000232" y="6473952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 / 15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4F6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110916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Parque Instalado: Cadastro dos 38 Climatizadores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548640" y="1417320"/>
            <a:ext cx="2084832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/>
          <a:effectLst>
            <a:outerShdw blurRad="76200" dist="25400" dir="5400000" algn="bl" rotWithShape="0">
              <a:srgbClr val="888888">
                <a:alpha val="25000"/>
              </a:srgbClr>
            </a:outerShdw>
          </a:effectLst>
        </p:spPr>
      </p:sp>
      <p:sp>
        <p:nvSpPr>
          <p:cNvPr id="4" name="Text 2"/>
          <p:cNvSpPr txBox="1"/>
          <p:nvPr/>
        </p:nvSpPr>
        <p:spPr>
          <a:xfrm>
            <a:off x="640080" y="1527048"/>
            <a:ext cx="1901952" cy="77952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38</a:t>
            </a:r>
            <a:endParaRPr lang="en-US" sz="22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2267712"/>
            <a:ext cx="1901952" cy="53858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5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Climatizadores</a:t>
            </a:r>
            <a:endParaRPr lang="en-US" sz="1050" dirty="0"/>
          </a:p>
        </p:txBody>
      </p:sp>
      <p:sp>
        <p:nvSpPr>
          <p:cNvPr id="6" name="Shape 4"/>
          <p:cNvSpPr/>
          <p:nvPr/>
        </p:nvSpPr>
        <p:spPr>
          <a:xfrm>
            <a:off x="2779776" y="1417320"/>
            <a:ext cx="2084832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/>
          <a:effectLst>
            <a:outerShdw blurRad="76200" dist="25400" dir="5400000" algn="bl" rotWithShape="0">
              <a:srgbClr val="888888">
                <a:alpha val="25000"/>
              </a:srgbClr>
            </a:outerShdw>
          </a:effectLst>
        </p:spPr>
      </p:sp>
      <p:sp>
        <p:nvSpPr>
          <p:cNvPr id="7" name="Text 5"/>
          <p:cNvSpPr txBox="1"/>
          <p:nvPr/>
        </p:nvSpPr>
        <p:spPr>
          <a:xfrm>
            <a:off x="2871216" y="1527048"/>
            <a:ext cx="1901952" cy="77952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02809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76</a:t>
            </a:r>
            <a:endParaRPr lang="en-US" sz="2200" dirty="0"/>
          </a:p>
        </p:txBody>
      </p:sp>
      <p:sp>
        <p:nvSpPr>
          <p:cNvPr id="8" name="Text 6"/>
          <p:cNvSpPr txBox="1"/>
          <p:nvPr/>
        </p:nvSpPr>
        <p:spPr>
          <a:xfrm>
            <a:off x="2871216" y="2267712"/>
            <a:ext cx="1901952" cy="53858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5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Unid. Condensadoras (UCs)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5010912" y="1417320"/>
            <a:ext cx="2084832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/>
          <a:effectLst>
            <a:outerShdw blurRad="76200" dist="25400" dir="5400000" algn="bl" rotWithShape="0">
              <a:srgbClr val="888888">
                <a:alpha val="25000"/>
              </a:srgbClr>
            </a:outerShdw>
          </a:effectLst>
        </p:spPr>
      </p:sp>
      <p:sp>
        <p:nvSpPr>
          <p:cNvPr id="10" name="Text 8"/>
          <p:cNvSpPr txBox="1"/>
          <p:nvPr/>
        </p:nvSpPr>
        <p:spPr>
          <a:xfrm>
            <a:off x="5102352" y="1527048"/>
            <a:ext cx="1901952" cy="77952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41</a:t>
            </a:r>
            <a:endParaRPr lang="en-US" sz="2200" dirty="0"/>
          </a:p>
        </p:txBody>
      </p:sp>
      <p:sp>
        <p:nvSpPr>
          <p:cNvPr id="11" name="Text 9"/>
          <p:cNvSpPr txBox="1"/>
          <p:nvPr/>
        </p:nvSpPr>
        <p:spPr>
          <a:xfrm>
            <a:off x="5102352" y="2267712"/>
            <a:ext cx="1901952" cy="53858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5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Unid. Evaporadoras (UEs)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7242048" y="1417320"/>
            <a:ext cx="2084832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/>
          <a:effectLst>
            <a:outerShdw blurRad="76200" dist="25400" dir="5400000" algn="bl" rotWithShape="0">
              <a:srgbClr val="888888">
                <a:alpha val="25000"/>
              </a:srgbClr>
            </a:outerShdw>
          </a:effectLst>
        </p:spPr>
      </p:sp>
      <p:sp>
        <p:nvSpPr>
          <p:cNvPr id="13" name="Text 11"/>
          <p:cNvSpPr txBox="1"/>
          <p:nvPr/>
        </p:nvSpPr>
        <p:spPr>
          <a:xfrm>
            <a:off x="7333488" y="1527048"/>
            <a:ext cx="1901952" cy="77952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02809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851,1 kW</a:t>
            </a:r>
            <a:endParaRPr lang="en-US" sz="2200" dirty="0"/>
          </a:p>
        </p:txBody>
      </p:sp>
      <p:sp>
        <p:nvSpPr>
          <p:cNvPr id="14" name="Text 12"/>
          <p:cNvSpPr txBox="1"/>
          <p:nvPr/>
        </p:nvSpPr>
        <p:spPr>
          <a:xfrm>
            <a:off x="7333488" y="2267712"/>
            <a:ext cx="1901952" cy="53858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5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Potência Total Instalada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9473184" y="1417320"/>
            <a:ext cx="2084832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/>
          <a:effectLst>
            <a:outerShdw blurRad="76200" dist="25400" dir="5400000" algn="bl" rotWithShape="0">
              <a:srgbClr val="888888">
                <a:alpha val="25000"/>
              </a:srgbClr>
            </a:outerShdw>
          </a:effectLst>
        </p:spPr>
      </p:sp>
      <p:sp>
        <p:nvSpPr>
          <p:cNvPr id="16" name="Text 14"/>
          <p:cNvSpPr txBox="1"/>
          <p:nvPr/>
        </p:nvSpPr>
        <p:spPr>
          <a:xfrm>
            <a:off x="9564624" y="1527048"/>
            <a:ext cx="1901952" cy="77952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1.361,6 A</a:t>
            </a:r>
            <a:endParaRPr lang="en-US" sz="2200" dirty="0"/>
          </a:p>
        </p:txBody>
      </p:sp>
      <p:sp>
        <p:nvSpPr>
          <p:cNvPr id="17" name="Text 15"/>
          <p:cNvSpPr txBox="1"/>
          <p:nvPr/>
        </p:nvSpPr>
        <p:spPr>
          <a:xfrm>
            <a:off x="9564624" y="2267712"/>
            <a:ext cx="1901952" cy="53858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5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Corrente Total (380V)</a:t>
            </a:r>
            <a:endParaRPr lang="en-US" sz="1050" dirty="0"/>
          </a:p>
        </p:txBody>
      </p:sp>
      <p:sp>
        <p:nvSpPr>
          <p:cNvPr id="18" name="Text 16"/>
          <p:cNvSpPr txBox="1"/>
          <p:nvPr/>
        </p:nvSpPr>
        <p:spPr>
          <a:xfrm>
            <a:off x="548640" y="306324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Distribuição por Tipologia de Evaporadora</a:t>
            </a:r>
            <a:endParaRPr lang="en-US" sz="1500" dirty="0"/>
          </a:p>
        </p:txBody>
      </p:sp>
      <p:graphicFrame>
        <p:nvGraphicFramePr>
          <p:cNvPr id="1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3474720"/>
          <a:ext cx="7315200" cy="2606040"/>
        </p:xfrm>
        <a:graphic>
          <a:graphicData uri="http://schemas.openxmlformats.org/drawingml/2006/table">
            <a:tbl>
              <a:tblPr/>
              <a:tblGrid>
                <a:gridCol w="34747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972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372291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Tipologia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Qtd.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Pot. Total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Corrente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72291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Tipo 1 — 1 UE de 1,5 kW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21,5 kW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34,4 A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72291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Tipo 2 — 1 UE de 2,2 kW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EDEFF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EDEFF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22,2 kW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EDEFF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35,5 A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EDEFF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72291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Tipo 3 — 1 UE de 3,0 kW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23,0 kW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36,8 A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72291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Tipo 4 — 2 UEs de 1,5 kW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EDEFF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EDEFF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23,0 kW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EDEFF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36,8 A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EDEFF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72291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Tipo 5 — 2 UEs de 2,2 kW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24,4 kW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39,0 A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72291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Tipo 6 — 2 UEs de 3,0 kW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EDEFF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EDEFF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26,0 kW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EDEFF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41,6 A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EDEFF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20" name="Shape 17"/>
          <p:cNvSpPr/>
          <p:nvPr/>
        </p:nvSpPr>
        <p:spPr>
          <a:xfrm>
            <a:off x="8183880" y="3474720"/>
            <a:ext cx="3474720" cy="2606040"/>
          </a:xfrm>
          <a:prstGeom prst="roundRect">
            <a:avLst>
              <a:gd name="adj" fmla="val 2807"/>
            </a:avLst>
          </a:prstGeom>
          <a:solidFill>
            <a:srgbClr val="1E2761"/>
          </a:solidFill>
          <a:ln/>
        </p:spPr>
      </p:sp>
      <p:sp>
        <p:nvSpPr>
          <p:cNvPr id="21" name="Text 18"/>
          <p:cNvSpPr txBox="1"/>
          <p:nvPr/>
        </p:nvSpPr>
        <p:spPr>
          <a:xfrm>
            <a:off x="8412480" y="3703320"/>
            <a:ext cx="3017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00A89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91,1 kW</a:t>
            </a:r>
            <a:endParaRPr lang="en-US" sz="2400" dirty="0"/>
          </a:p>
        </p:txBody>
      </p:sp>
      <p:sp>
        <p:nvSpPr>
          <p:cNvPr id="22" name="Text 19"/>
          <p:cNvSpPr txBox="1"/>
          <p:nvPr/>
        </p:nvSpPr>
        <p:spPr>
          <a:xfrm>
            <a:off x="8412480" y="4206240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Potência total de evaporadoras</a:t>
            </a:r>
            <a:endParaRPr lang="en-US" sz="1100" dirty="0"/>
          </a:p>
        </p:txBody>
      </p:sp>
      <p:sp>
        <p:nvSpPr>
          <p:cNvPr id="23" name="Text 20"/>
          <p:cNvSpPr txBox="1"/>
          <p:nvPr/>
        </p:nvSpPr>
        <p:spPr>
          <a:xfrm>
            <a:off x="8412480" y="4709160"/>
            <a:ext cx="3017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00A89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760,0 kW</a:t>
            </a:r>
            <a:endParaRPr lang="en-US" sz="2400" dirty="0"/>
          </a:p>
        </p:txBody>
      </p:sp>
      <p:sp>
        <p:nvSpPr>
          <p:cNvPr id="24" name="Text 21"/>
          <p:cNvSpPr txBox="1"/>
          <p:nvPr/>
        </p:nvSpPr>
        <p:spPr>
          <a:xfrm>
            <a:off x="8412480" y="5212080"/>
            <a:ext cx="3017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Potência total de condensadoras (76 UCs de 10,0 kW)</a:t>
            </a:r>
            <a:endParaRPr lang="en-US" sz="1100" dirty="0"/>
          </a:p>
        </p:txBody>
      </p:sp>
      <p:sp>
        <p:nvSpPr>
          <p:cNvPr id="25" name="Text 22"/>
          <p:cNvSpPr txBox="1"/>
          <p:nvPr/>
        </p:nvSpPr>
        <p:spPr>
          <a:xfrm>
            <a:off x="457200" y="6473952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Novo Shopping — Retrofit HVAC Inteligente</a:t>
            </a:r>
            <a:endParaRPr lang="en-US" sz="900" dirty="0"/>
          </a:p>
        </p:txBody>
      </p:sp>
      <p:sp>
        <p:nvSpPr>
          <p:cNvPr id="26" name="Text 23"/>
          <p:cNvSpPr txBox="1"/>
          <p:nvPr/>
        </p:nvSpPr>
        <p:spPr>
          <a:xfrm>
            <a:off x="11000232" y="6473952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 / 15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110916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Validação Prática em Campo — Telemetria (Logs R1)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9144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Dados minuto a minuto direto dos CLPs durante 12h de expediente diário</a:t>
            </a:r>
            <a:endParaRPr lang="en-US" sz="13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17320"/>
          <a:ext cx="11091672" cy="1554480"/>
        </p:xfrm>
        <a:graphic>
          <a:graphicData uri="http://schemas.openxmlformats.org/drawingml/2006/table">
            <a:tbl>
              <a:tblPr/>
              <a:tblGrid>
                <a:gridCol w="10515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315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73736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2344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50876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23444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399032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38862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Equip.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Evaps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Tempo p/ Setpoint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DC Mestre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DC Escrava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Ambos ON/dia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DC Global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Rodízio 12h?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886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FC-17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351,8 min (~5,9h)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69,2%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53,4%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203,7 min/dia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61,3%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SIM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886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FC-27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EDEFF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EDEFF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121,5 min (~2,0h)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EDEFF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69,3%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EDEFF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37,2%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EDEFF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43,0 min/dia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EDEFF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53,3%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EDEFF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SIM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EDEFF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886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FC-28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30,0 min (~0,5h)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73,4%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41,2%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45,0 min/dia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57,3%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SIM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5" name="Text 2"/>
          <p:cNvSpPr txBox="1"/>
          <p:nvPr/>
        </p:nvSpPr>
        <p:spPr>
          <a:xfrm>
            <a:off x="548640" y="324612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Conclusões de Engenharia</a:t>
            </a:r>
            <a:endParaRPr lang="en-US" sz="1500" dirty="0"/>
          </a:p>
        </p:txBody>
      </p:sp>
      <p:sp>
        <p:nvSpPr>
          <p:cNvPr id="6" name="Shape 3"/>
          <p:cNvSpPr/>
          <p:nvPr/>
        </p:nvSpPr>
        <p:spPr>
          <a:xfrm>
            <a:off x="548640" y="3703320"/>
            <a:ext cx="384048" cy="384048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548640" y="37033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OK</a:t>
            </a:r>
            <a:endParaRPr lang="en-US" sz="1100" dirty="0"/>
          </a:p>
        </p:txBody>
      </p:sp>
      <p:sp>
        <p:nvSpPr>
          <p:cNvPr id="8" name="Text 5"/>
          <p:cNvSpPr txBox="1"/>
          <p:nvPr/>
        </p:nvSpPr>
        <p:spPr>
          <a:xfrm>
            <a:off x="1097280" y="3657600"/>
            <a:ext cx="10241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Rodízio automático de 12h operando com 100% de sucesso na alternância dos compressores líderes.</a:t>
            </a:r>
            <a:endParaRPr lang="en-US" sz="1200" dirty="0"/>
          </a:p>
        </p:txBody>
      </p:sp>
      <p:sp>
        <p:nvSpPr>
          <p:cNvPr id="9" name="Shape 6"/>
          <p:cNvSpPr/>
          <p:nvPr/>
        </p:nvSpPr>
        <p:spPr>
          <a:xfrm>
            <a:off x="548640" y="4343400"/>
            <a:ext cx="384048" cy="384048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4" name="Text 7"/>
          <p:cNvSpPr txBox="1"/>
          <p:nvPr/>
        </p:nvSpPr>
        <p:spPr>
          <a:xfrm>
            <a:off x="548640" y="43434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OK</a:t>
            </a:r>
            <a:endParaRPr lang="en-US" sz="1100" dirty="0"/>
          </a:p>
        </p:txBody>
      </p:sp>
      <p:sp>
        <p:nvSpPr>
          <p:cNvPr id="11" name="Text 8"/>
          <p:cNvSpPr txBox="1"/>
          <p:nvPr/>
        </p:nvSpPr>
        <p:spPr>
          <a:xfrm>
            <a:off x="1097280" y="4297680"/>
            <a:ext cx="10241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Equipamentos com 2 evaporadoras atingem o setpoint em 30-120 min e reduzem o acionamento simultâneo para ~43-45 min/dia (~6% da jornada).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548640" y="4983480"/>
            <a:ext cx="384048" cy="384048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548640" y="49834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OK</a:t>
            </a:r>
            <a:endParaRPr lang="en-US" sz="1100" dirty="0"/>
          </a:p>
        </p:txBody>
      </p:sp>
      <p:sp>
        <p:nvSpPr>
          <p:cNvPr id="14" name="Text 11"/>
          <p:cNvSpPr txBox="1"/>
          <p:nvPr/>
        </p:nvSpPr>
        <p:spPr>
          <a:xfrm>
            <a:off x="1097280" y="4937760"/>
            <a:ext cx="10241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FC-17 (1 evaporadora, alta carga), o CLP evitou sobrecarga contínua, modulando a Escrava a 53,4% contra os 70% do sistema antigo.</a:t>
            </a:r>
            <a:endParaRPr lang="en-US" sz="1200" dirty="0"/>
          </a:p>
        </p:txBody>
      </p:sp>
      <p:sp>
        <p:nvSpPr>
          <p:cNvPr id="15" name="Text 12"/>
          <p:cNvSpPr txBox="1"/>
          <p:nvPr/>
        </p:nvSpPr>
        <p:spPr>
          <a:xfrm>
            <a:off x="457200" y="6473952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Novo Shopping — Retrofit HVAC Inteligente</a:t>
            </a:r>
            <a:endParaRPr lang="en-US" sz="900" dirty="0"/>
          </a:p>
        </p:txBody>
      </p:sp>
      <p:sp>
        <p:nvSpPr>
          <p:cNvPr id="16" name="Text 13"/>
          <p:cNvSpPr txBox="1"/>
          <p:nvPr/>
        </p:nvSpPr>
        <p:spPr>
          <a:xfrm>
            <a:off x="11000232" y="6473952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 / 15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4F6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110916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Comparativo Consolidado de Custos e Consumo</a:t>
            </a:r>
            <a:endParaRPr lang="en-US" sz="28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57127870"/>
              </p:ext>
            </p:extLst>
          </p:nvPr>
        </p:nvGraphicFramePr>
        <p:xfrm>
          <a:off x="548640" y="1051560"/>
          <a:ext cx="11091672" cy="1828800"/>
        </p:xfrm>
        <a:graphic>
          <a:graphicData uri="http://schemas.openxmlformats.org/drawingml/2006/table">
            <a:tbl>
              <a:tblPr/>
              <a:tblGrid>
                <a:gridCol w="32004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1945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19456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01168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673352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36576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Indicador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Antes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 CLP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Economia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Redução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50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Consumo Mensal de Energia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237.000 kWh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212.813 kWh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24.187 kWh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b="1">
                          <a:solidFill>
                            <a:srgbClr val="02809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-10,2%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50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Consumo Anual de Energia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EDEFF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2.843.999 kWh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EDEFF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2.553.751 kWh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EDEFF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290.249 kWh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EDEFF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b="1">
                          <a:solidFill>
                            <a:srgbClr val="02809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-10,2%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EDEFF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50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Gasto Operacional Mensal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R$ 177.749,96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R$ 159.609,43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R$ 18.140,54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b="1">
                          <a:solidFill>
                            <a:srgbClr val="02809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-10,2%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50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Gasto Operacional Anual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EDEFF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R$ 2.132.999,57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EDEFF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R$ 1.915.313,15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EDEFF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R$ 217.686,42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EDEFF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b="1">
                          <a:solidFill>
                            <a:srgbClr val="02809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-10,2%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EDEFF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4" name="Text 1"/>
          <p:cNvSpPr txBox="1"/>
          <p:nvPr/>
        </p:nvSpPr>
        <p:spPr>
          <a:xfrm>
            <a:off x="548640" y="3063240"/>
            <a:ext cx="5394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Consumo Mensal de Energia (kWh)</a:t>
            </a:r>
            <a:endParaRPr lang="en-US" sz="1250" dirty="0"/>
          </a:p>
        </p:txBody>
      </p:sp>
      <p:graphicFrame>
        <p:nvGraphicFramePr>
          <p:cNvPr id="5" name="Chart 0"/>
          <p:cNvGraphicFramePr/>
          <p:nvPr/>
        </p:nvGraphicFramePr>
        <p:xfrm>
          <a:off x="548640" y="3429000"/>
          <a:ext cx="5394960" cy="265176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6" name="Text 2"/>
          <p:cNvSpPr txBox="1"/>
          <p:nvPr/>
        </p:nvSpPr>
        <p:spPr>
          <a:xfrm>
            <a:off x="6263640" y="3063240"/>
            <a:ext cx="5394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Gasto Operacional Anual (R$)</a:t>
            </a:r>
            <a:endParaRPr lang="en-US" sz="1250" dirty="0"/>
          </a:p>
        </p:txBody>
      </p:sp>
      <p:graphicFrame>
        <p:nvGraphicFramePr>
          <p:cNvPr id="7" name="Chart 1"/>
          <p:cNvGraphicFramePr/>
          <p:nvPr/>
        </p:nvGraphicFramePr>
        <p:xfrm>
          <a:off x="6263640" y="3429000"/>
          <a:ext cx="5394960" cy="265176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sp>
        <p:nvSpPr>
          <p:cNvPr id="8" name="Text 3"/>
          <p:cNvSpPr txBox="1"/>
          <p:nvPr/>
        </p:nvSpPr>
        <p:spPr>
          <a:xfrm>
            <a:off x="457200" y="6473952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Novo Shopping — Retrofit HVAC Inteligente</a:t>
            </a:r>
            <a:endParaRPr lang="en-US" sz="900" dirty="0"/>
          </a:p>
        </p:txBody>
      </p:sp>
      <p:sp>
        <p:nvSpPr>
          <p:cNvPr id="9" name="Text 4"/>
          <p:cNvSpPr txBox="1"/>
          <p:nvPr/>
        </p:nvSpPr>
        <p:spPr>
          <a:xfrm>
            <a:off x="11000232" y="6473952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/ 15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110916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Análise de Viabilidade Financeira (5 Anos)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548640" y="1051560"/>
            <a:ext cx="2606040" cy="128016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/>
          <a:effectLst>
            <a:outerShdw blurRad="76200" dist="25400" dir="5400000" algn="bl" rotWithShape="0">
              <a:srgbClr val="888888">
                <a:alpha val="25000"/>
              </a:srgbClr>
            </a:outerShdw>
          </a:effectLst>
        </p:spPr>
      </p:sp>
      <p:sp>
        <p:nvSpPr>
          <p:cNvPr id="4" name="Text 2"/>
          <p:cNvSpPr txBox="1"/>
          <p:nvPr/>
        </p:nvSpPr>
        <p:spPr>
          <a:xfrm>
            <a:off x="640080" y="1161288"/>
            <a:ext cx="2423160" cy="7040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R$ 301.000</a:t>
            </a:r>
            <a:endParaRPr lang="en-US" sz="22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1819656"/>
            <a:ext cx="2423160" cy="4864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5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CAPEX Inicial</a:t>
            </a:r>
            <a:endParaRPr lang="en-US" sz="1050" dirty="0"/>
          </a:p>
        </p:txBody>
      </p:sp>
      <p:sp>
        <p:nvSpPr>
          <p:cNvPr id="6" name="Shape 4"/>
          <p:cNvSpPr/>
          <p:nvPr/>
        </p:nvSpPr>
        <p:spPr>
          <a:xfrm>
            <a:off x="3337560" y="1051560"/>
            <a:ext cx="2606040" cy="128016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/>
          <a:effectLst>
            <a:outerShdw blurRad="76200" dist="25400" dir="5400000" algn="bl" rotWithShape="0">
              <a:srgbClr val="888888">
                <a:alpha val="25000"/>
              </a:srgbClr>
            </a:outerShdw>
          </a:effectLst>
        </p:spPr>
      </p:sp>
      <p:sp>
        <p:nvSpPr>
          <p:cNvPr id="7" name="Text 5"/>
          <p:cNvSpPr txBox="1"/>
          <p:nvPr/>
        </p:nvSpPr>
        <p:spPr>
          <a:xfrm>
            <a:off x="3429000" y="1161288"/>
            <a:ext cx="2423160" cy="7040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>
                <a:solidFill>
                  <a:srgbClr val="02809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16,5 meses</a:t>
            </a:r>
            <a:endParaRPr lang="en-US" sz="2200" dirty="0"/>
          </a:p>
        </p:txBody>
      </p:sp>
      <p:sp>
        <p:nvSpPr>
          <p:cNvPr id="8" name="Text 6"/>
          <p:cNvSpPr txBox="1"/>
          <p:nvPr/>
        </p:nvSpPr>
        <p:spPr>
          <a:xfrm>
            <a:off x="3429000" y="1819656"/>
            <a:ext cx="2423160" cy="4864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5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Payback Simples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6126480" y="1051560"/>
            <a:ext cx="2606040" cy="128016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/>
          <a:effectLst>
            <a:outerShdw blurRad="76200" dist="25400" dir="5400000" algn="bl" rotWithShape="0">
              <a:srgbClr val="888888">
                <a:alpha val="25000"/>
              </a:srgbClr>
            </a:outerShdw>
          </a:effectLst>
        </p:spPr>
      </p:sp>
      <p:sp>
        <p:nvSpPr>
          <p:cNvPr id="10" name="Text 8"/>
          <p:cNvSpPr txBox="1"/>
          <p:nvPr/>
        </p:nvSpPr>
        <p:spPr>
          <a:xfrm>
            <a:off x="6217920" y="1161288"/>
            <a:ext cx="2423160" cy="7040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+262,8%</a:t>
            </a:r>
            <a:endParaRPr lang="en-US" sz="2200" dirty="0"/>
          </a:p>
        </p:txBody>
      </p:sp>
      <p:sp>
        <p:nvSpPr>
          <p:cNvPr id="11" name="Text 9"/>
          <p:cNvSpPr txBox="1"/>
          <p:nvPr/>
        </p:nvSpPr>
        <p:spPr>
          <a:xfrm>
            <a:off x="6217920" y="1819656"/>
            <a:ext cx="2423160" cy="4864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5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ROI em 5 Anos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8915400" y="1051560"/>
            <a:ext cx="2606040" cy="128016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/>
          <a:effectLst>
            <a:outerShdw blurRad="76200" dist="25400" dir="5400000" algn="bl" rotWithShape="0">
              <a:srgbClr val="888888">
                <a:alpha val="25000"/>
              </a:srgbClr>
            </a:outerShdw>
          </a:effectLst>
        </p:spPr>
      </p:sp>
      <p:sp>
        <p:nvSpPr>
          <p:cNvPr id="13" name="Text 11"/>
          <p:cNvSpPr txBox="1"/>
          <p:nvPr/>
        </p:nvSpPr>
        <p:spPr>
          <a:xfrm>
            <a:off x="9006840" y="1161288"/>
            <a:ext cx="2423160" cy="7040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>
                <a:solidFill>
                  <a:srgbClr val="02809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R$ 484.710</a:t>
            </a:r>
            <a:endParaRPr lang="en-US" sz="2200" dirty="0"/>
          </a:p>
        </p:txBody>
      </p:sp>
      <p:sp>
        <p:nvSpPr>
          <p:cNvPr id="14" name="Text 12"/>
          <p:cNvSpPr txBox="1"/>
          <p:nvPr/>
        </p:nvSpPr>
        <p:spPr>
          <a:xfrm>
            <a:off x="9006840" y="1819656"/>
            <a:ext cx="2423160" cy="4864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5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VPL (TMA 12%)</a:t>
            </a:r>
            <a:endParaRPr lang="en-US" sz="1050" dirty="0"/>
          </a:p>
        </p:txBody>
      </p:sp>
      <p:sp>
        <p:nvSpPr>
          <p:cNvPr id="15" name="Text 13"/>
          <p:cNvSpPr txBox="1"/>
          <p:nvPr/>
        </p:nvSpPr>
        <p:spPr>
          <a:xfrm>
            <a:off x="548640" y="251460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Curva de Fluxo de Caixa Acumulado</a:t>
            </a:r>
            <a:endParaRPr lang="en-US" sz="1300" dirty="0"/>
          </a:p>
        </p:txBody>
      </p:sp>
      <p:graphicFrame>
        <p:nvGraphicFramePr>
          <p:cNvPr id="16" name="Chart 0"/>
          <p:cNvGraphicFramePr/>
          <p:nvPr/>
        </p:nvGraphicFramePr>
        <p:xfrm>
          <a:off x="548640" y="2880360"/>
          <a:ext cx="7452360" cy="288036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17" name="Shape 14"/>
          <p:cNvSpPr/>
          <p:nvPr/>
        </p:nvSpPr>
        <p:spPr>
          <a:xfrm>
            <a:off x="8229600" y="2880360"/>
            <a:ext cx="3429000" cy="2880360"/>
          </a:xfrm>
          <a:prstGeom prst="roundRect">
            <a:avLst>
              <a:gd name="adj" fmla="val 2540"/>
            </a:avLst>
          </a:prstGeom>
          <a:solidFill>
            <a:srgbClr val="1E2761"/>
          </a:solidFill>
          <a:ln/>
        </p:spPr>
      </p:sp>
      <p:sp>
        <p:nvSpPr>
          <p:cNvPr id="18" name="Text 15"/>
          <p:cNvSpPr txBox="1"/>
          <p:nvPr/>
        </p:nvSpPr>
        <p:spPr>
          <a:xfrm>
            <a:off x="8458200" y="3063240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0A8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Breakeven</a:t>
            </a:r>
            <a:endParaRPr lang="en-US" sz="1200" dirty="0"/>
          </a:p>
        </p:txBody>
      </p:sp>
      <p:sp>
        <p:nvSpPr>
          <p:cNvPr id="19" name="Text 16"/>
          <p:cNvSpPr txBox="1"/>
          <p:nvPr/>
        </p:nvSpPr>
        <p:spPr>
          <a:xfrm>
            <a:off x="8458200" y="3337560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17º mês completo</a:t>
            </a:r>
            <a:endParaRPr lang="en-US" sz="1700" dirty="0"/>
          </a:p>
        </p:txBody>
      </p:sp>
      <p:sp>
        <p:nvSpPr>
          <p:cNvPr id="20" name="Shape 17"/>
          <p:cNvSpPr/>
          <p:nvPr/>
        </p:nvSpPr>
        <p:spPr>
          <a:xfrm>
            <a:off x="8458200" y="3886200"/>
            <a:ext cx="2971800" cy="0"/>
          </a:xfrm>
          <a:prstGeom prst="line">
            <a:avLst/>
          </a:prstGeom>
          <a:noFill/>
          <a:ln w="12700">
            <a:solidFill>
              <a:srgbClr val="141B45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8458200" y="4023360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0A8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Lucro líquido em 5 anos</a:t>
            </a:r>
            <a:endParaRPr lang="en-US" sz="1200" dirty="0"/>
          </a:p>
        </p:txBody>
      </p:sp>
      <p:sp>
        <p:nvSpPr>
          <p:cNvPr id="22" name="Text 19"/>
          <p:cNvSpPr txBox="1"/>
          <p:nvPr/>
        </p:nvSpPr>
        <p:spPr>
          <a:xfrm>
            <a:off x="8458200" y="4297680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R$ 787.432,10</a:t>
            </a:r>
            <a:endParaRPr lang="en-US" sz="1700" dirty="0"/>
          </a:p>
        </p:txBody>
      </p:sp>
      <p:sp>
        <p:nvSpPr>
          <p:cNvPr id="23" name="Shape 20"/>
          <p:cNvSpPr/>
          <p:nvPr/>
        </p:nvSpPr>
        <p:spPr>
          <a:xfrm>
            <a:off x="8458200" y="4846320"/>
            <a:ext cx="2971800" cy="0"/>
          </a:xfrm>
          <a:prstGeom prst="line">
            <a:avLst/>
          </a:prstGeom>
          <a:noFill/>
          <a:ln w="12700">
            <a:solidFill>
              <a:srgbClr val="141B45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8458200" y="4983480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Economia acumulada - CAPEX</a:t>
            </a:r>
            <a:endParaRPr lang="en-US" sz="1100" dirty="0"/>
          </a:p>
        </p:txBody>
      </p:sp>
      <p:sp>
        <p:nvSpPr>
          <p:cNvPr id="25" name="Text 22"/>
          <p:cNvSpPr txBox="1"/>
          <p:nvPr/>
        </p:nvSpPr>
        <p:spPr>
          <a:xfrm>
            <a:off x="8458200" y="5257800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R$ 1.088.432,10 - R$ 301.000,00</a:t>
            </a:r>
            <a:endParaRPr lang="en-US" sz="1050" dirty="0"/>
          </a:p>
        </p:txBody>
      </p:sp>
      <p:sp>
        <p:nvSpPr>
          <p:cNvPr id="26" name="Text 23"/>
          <p:cNvSpPr txBox="1"/>
          <p:nvPr/>
        </p:nvSpPr>
        <p:spPr>
          <a:xfrm>
            <a:off x="457200" y="6473952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Novo Shopping — Retrofit HVAC Inteligente</a:t>
            </a:r>
            <a:endParaRPr lang="en-US" sz="900" dirty="0"/>
          </a:p>
        </p:txBody>
      </p:sp>
      <p:sp>
        <p:nvSpPr>
          <p:cNvPr id="27" name="Text 24"/>
          <p:cNvSpPr txBox="1"/>
          <p:nvPr/>
        </p:nvSpPr>
        <p:spPr>
          <a:xfrm>
            <a:off x="11000232" y="6473952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 / 15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4F6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110916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Sustentabilidade Corporativa e Descarbonização ESG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548640" y="1188720"/>
            <a:ext cx="5212080" cy="4572000"/>
          </a:xfrm>
          <a:prstGeom prst="roundRect">
            <a:avLst>
              <a:gd name="adj" fmla="val 1600"/>
            </a:avLst>
          </a:prstGeom>
          <a:solidFill>
            <a:srgbClr val="1E2761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822960" y="1554480"/>
            <a:ext cx="46634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400" b="1">
                <a:solidFill>
                  <a:srgbClr val="00A89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25,0 tCO2/ano</a:t>
            </a:r>
            <a:endParaRPr lang="en-US" sz="3400" dirty="0"/>
          </a:p>
        </p:txBody>
      </p:sp>
      <p:sp>
        <p:nvSpPr>
          <p:cNvPr id="5" name="Text 3"/>
          <p:cNvSpPr txBox="1"/>
          <p:nvPr/>
        </p:nvSpPr>
        <p:spPr>
          <a:xfrm>
            <a:off x="822960" y="2331720"/>
            <a:ext cx="4663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emissões de gases de efeito estufa evitadas por ano (125 tCO2 em 5 anos)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822960" y="3063240"/>
            <a:ext cx="4663440" cy="0"/>
          </a:xfrm>
          <a:prstGeom prst="line">
            <a:avLst/>
          </a:prstGeom>
          <a:noFill/>
          <a:ln w="12700">
            <a:solidFill>
              <a:srgbClr val="141B45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22960" y="3246120"/>
            <a:ext cx="46634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50000"/>
              </a:lnSpc>
              <a:buNone/>
            </a:pPr>
            <a:r>
              <a:rPr lang="en-US" sz="1250" b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290.249 kWh/ano </a:t>
            </a:r>
            <a:r>
              <a:rPr lang="en-US" sz="12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energia economizada
</a:t>
            </a: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0,086 kg CO2/kWh </a:t>
            </a:r>
            <a:r>
              <a:rPr lang="en-US" sz="12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fator de emissão (SIN / MCTI)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6126480" y="1371600"/>
            <a:ext cx="640080" cy="640080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6126480" y="137160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1.560</a:t>
            </a:r>
            <a:endParaRPr lang="en-US" sz="1800" dirty="0"/>
          </a:p>
        </p:txBody>
      </p:sp>
      <p:sp>
        <p:nvSpPr>
          <p:cNvPr id="10" name="Text 8"/>
          <p:cNvSpPr txBox="1"/>
          <p:nvPr/>
        </p:nvSpPr>
        <p:spPr>
          <a:xfrm>
            <a:off x="6949440" y="1353312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~1.560 árvores</a:t>
            </a:r>
            <a:endParaRPr 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6949440" y="1691640"/>
            <a:ext cx="45720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plantadas e preservadas por ano para absorver o mesmo volume de carbono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6126480" y="2788920"/>
            <a:ext cx="640080" cy="640080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6126480" y="278892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54</a:t>
            </a:r>
            <a:endParaRPr lang="en-US" sz="1800" dirty="0"/>
          </a:p>
        </p:txBody>
      </p:sp>
      <p:sp>
        <p:nvSpPr>
          <p:cNvPr id="14" name="Text 12"/>
          <p:cNvSpPr txBox="1"/>
          <p:nvPr/>
        </p:nvSpPr>
        <p:spPr>
          <a:xfrm>
            <a:off x="6949440" y="2770632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~54 veículos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6949440" y="3108960"/>
            <a:ext cx="45720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passeio a combustão retirados de circulação nas avenidas de Ribeirão Preto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6126480" y="4206240"/>
            <a:ext cx="640080" cy="640080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6126480" y="420624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ISO</a:t>
            </a:r>
            <a:endParaRPr lang="en-US" sz="1800" dirty="0"/>
          </a:p>
        </p:txBody>
      </p:sp>
      <p:sp>
        <p:nvSpPr>
          <p:cNvPr id="18" name="Text 16"/>
          <p:cNvSpPr txBox="1"/>
          <p:nvPr/>
        </p:nvSpPr>
        <p:spPr>
          <a:xfrm>
            <a:off x="6949440" y="4187952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Selos verdes</a:t>
            </a:r>
            <a:endParaRPr lang="en-US" sz="1600" dirty="0"/>
          </a:p>
        </p:txBody>
      </p:sp>
      <p:sp>
        <p:nvSpPr>
          <p:cNvPr id="19" name="Text 17"/>
          <p:cNvSpPr txBox="1"/>
          <p:nvPr/>
        </p:nvSpPr>
        <p:spPr>
          <a:xfrm>
            <a:off x="6949440" y="4526280"/>
            <a:ext cx="45720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Qualificação direta para certificações LEED, EDGE e ISO 50001</a:t>
            </a:r>
            <a:endParaRPr lang="en-US" sz="1150" dirty="0"/>
          </a:p>
        </p:txBody>
      </p:sp>
      <p:sp>
        <p:nvSpPr>
          <p:cNvPr id="20" name="Text 18"/>
          <p:cNvSpPr txBox="1"/>
          <p:nvPr/>
        </p:nvSpPr>
        <p:spPr>
          <a:xfrm>
            <a:off x="457200" y="6473952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Novo Shopping — Retrofit HVAC Inteligente</a:t>
            </a:r>
            <a:endParaRPr lang="en-US" sz="900" dirty="0"/>
          </a:p>
        </p:txBody>
      </p:sp>
      <p:sp>
        <p:nvSpPr>
          <p:cNvPr id="21" name="Text 19"/>
          <p:cNvSpPr txBox="1"/>
          <p:nvPr/>
        </p:nvSpPr>
        <p:spPr>
          <a:xfrm>
            <a:off x="11000232" y="6473952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 / 15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110916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Cronograma Executivo de Implantação (12 Semanas)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91440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Instalação sem parada operacional — obras noturnas das 22h às 08h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1581912" y="2194560"/>
            <a:ext cx="8997696" cy="0"/>
          </a:xfrm>
          <a:prstGeom prst="line">
            <a:avLst/>
          </a:prstGeom>
          <a:noFill/>
          <a:ln w="38100">
            <a:solidFill>
              <a:srgbClr val="CADCFC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307592" y="1920240"/>
            <a:ext cx="548640" cy="54864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1307592" y="192024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2606040"/>
            <a:ext cx="206654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S1-S2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548640" y="2971800"/>
            <a:ext cx="2066544" cy="2377440"/>
          </a:xfrm>
          <a:prstGeom prst="roundRect">
            <a:avLst>
              <a:gd name="adj" fmla="val 2655"/>
            </a:avLst>
          </a:prstGeom>
          <a:solidFill>
            <a:srgbClr val="F4F6FA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658368" y="3108960"/>
            <a:ext cx="184708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Engenharia &amp; Aquisição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658368" y="3840480"/>
            <a:ext cx="1847088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Detalhamento, compra de CLPs, sensores de corrente e quadros.</a:t>
            </a:r>
            <a:endParaRPr lang="en-US" sz="950" dirty="0"/>
          </a:p>
        </p:txBody>
      </p:sp>
      <p:sp>
        <p:nvSpPr>
          <p:cNvPr id="11" name="Shape 9"/>
          <p:cNvSpPr/>
          <p:nvPr/>
        </p:nvSpPr>
        <p:spPr>
          <a:xfrm>
            <a:off x="3557016" y="1920240"/>
            <a:ext cx="548640" cy="54864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3557016" y="192024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13" name="Text 11"/>
          <p:cNvSpPr txBox="1"/>
          <p:nvPr/>
        </p:nvSpPr>
        <p:spPr>
          <a:xfrm>
            <a:off x="2798064" y="2606040"/>
            <a:ext cx="206654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S3-S4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2798064" y="2971800"/>
            <a:ext cx="2066544" cy="2377440"/>
          </a:xfrm>
          <a:prstGeom prst="roundRect">
            <a:avLst>
              <a:gd name="adj" fmla="val 2655"/>
            </a:avLst>
          </a:prstGeom>
          <a:solidFill>
            <a:srgbClr val="F4F6FA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2907792" y="3108960"/>
            <a:ext cx="184708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Bancada &amp; Programação</a:t>
            </a:r>
            <a:endParaRPr lang="en-US" sz="1200" dirty="0"/>
          </a:p>
        </p:txBody>
      </p:sp>
      <p:sp>
        <p:nvSpPr>
          <p:cNvPr id="16" name="Text 14"/>
          <p:cNvSpPr txBox="1"/>
          <p:nvPr/>
        </p:nvSpPr>
        <p:spPr>
          <a:xfrm>
            <a:off x="2907792" y="3840480"/>
            <a:ext cx="1847088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Montagem de bancada, testes e firmware dos CLPs.</a:t>
            </a:r>
            <a:endParaRPr lang="en-US" sz="950" dirty="0"/>
          </a:p>
        </p:txBody>
      </p:sp>
      <p:sp>
        <p:nvSpPr>
          <p:cNvPr id="17" name="Shape 15"/>
          <p:cNvSpPr/>
          <p:nvPr/>
        </p:nvSpPr>
        <p:spPr>
          <a:xfrm>
            <a:off x="5806440" y="1920240"/>
            <a:ext cx="548640" cy="54864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5806440" y="192024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sp>
        <p:nvSpPr>
          <p:cNvPr id="19" name="Text 17"/>
          <p:cNvSpPr txBox="1"/>
          <p:nvPr/>
        </p:nvSpPr>
        <p:spPr>
          <a:xfrm>
            <a:off x="5047488" y="2606040"/>
            <a:ext cx="206654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S5-S9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5047488" y="2971800"/>
            <a:ext cx="2066544" cy="2377440"/>
          </a:xfrm>
          <a:prstGeom prst="roundRect">
            <a:avLst>
              <a:gd name="adj" fmla="val 2655"/>
            </a:avLst>
          </a:prstGeom>
          <a:solidFill>
            <a:srgbClr val="F4F6FA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5157216" y="3108960"/>
            <a:ext cx="184708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Instalação Física</a:t>
            </a:r>
            <a:endParaRPr lang="en-US" sz="1200" dirty="0"/>
          </a:p>
        </p:txBody>
      </p:sp>
      <p:sp>
        <p:nvSpPr>
          <p:cNvPr id="22" name="Text 20"/>
          <p:cNvSpPr txBox="1"/>
          <p:nvPr/>
        </p:nvSpPr>
        <p:spPr>
          <a:xfrm>
            <a:off x="5157216" y="3840480"/>
            <a:ext cx="1847088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Instalação nos 38 climatizadores (7-8 máquinas/semana).</a:t>
            </a:r>
            <a:endParaRPr lang="en-US" sz="950" dirty="0"/>
          </a:p>
        </p:txBody>
      </p:sp>
      <p:sp>
        <p:nvSpPr>
          <p:cNvPr id="23" name="Shape 21"/>
          <p:cNvSpPr/>
          <p:nvPr/>
        </p:nvSpPr>
        <p:spPr>
          <a:xfrm>
            <a:off x="8055864" y="1920240"/>
            <a:ext cx="548640" cy="54864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8055864" y="192024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600" dirty="0"/>
          </a:p>
        </p:txBody>
      </p:sp>
      <p:sp>
        <p:nvSpPr>
          <p:cNvPr id="25" name="Text 23"/>
          <p:cNvSpPr txBox="1"/>
          <p:nvPr/>
        </p:nvSpPr>
        <p:spPr>
          <a:xfrm>
            <a:off x="7296912" y="2606040"/>
            <a:ext cx="206654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S10-S11</a:t>
            </a:r>
            <a:endParaRPr lang="en-US" sz="1200" dirty="0"/>
          </a:p>
        </p:txBody>
      </p:sp>
      <p:sp>
        <p:nvSpPr>
          <p:cNvPr id="26" name="Shape 24"/>
          <p:cNvSpPr/>
          <p:nvPr/>
        </p:nvSpPr>
        <p:spPr>
          <a:xfrm>
            <a:off x="7296912" y="2971800"/>
            <a:ext cx="2066544" cy="2377440"/>
          </a:xfrm>
          <a:prstGeom prst="roundRect">
            <a:avLst>
              <a:gd name="adj" fmla="val 2655"/>
            </a:avLst>
          </a:prstGeom>
          <a:solidFill>
            <a:srgbClr val="F4F6FA"/>
          </a:solidFill>
          <a:ln/>
        </p:spPr>
      </p:sp>
      <p:sp>
        <p:nvSpPr>
          <p:cNvPr id="27" name="Text 25"/>
          <p:cNvSpPr txBox="1"/>
          <p:nvPr/>
        </p:nvSpPr>
        <p:spPr>
          <a:xfrm>
            <a:off x="7406640" y="3108960"/>
            <a:ext cx="184708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Comissionamento</a:t>
            </a:r>
            <a:endParaRPr lang="en-US" sz="1200" dirty="0"/>
          </a:p>
        </p:txBody>
      </p:sp>
      <p:sp>
        <p:nvSpPr>
          <p:cNvPr id="28" name="Text 26"/>
          <p:cNvSpPr txBox="1"/>
          <p:nvPr/>
        </p:nvSpPr>
        <p:spPr>
          <a:xfrm>
            <a:off x="7406640" y="3840480"/>
            <a:ext cx="1847088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Ajuste fino de setpoints e validação do rodízio 12h.</a:t>
            </a:r>
            <a:endParaRPr lang="en-US" sz="950" dirty="0"/>
          </a:p>
        </p:txBody>
      </p:sp>
      <p:sp>
        <p:nvSpPr>
          <p:cNvPr id="29" name="Shape 27"/>
          <p:cNvSpPr/>
          <p:nvPr/>
        </p:nvSpPr>
        <p:spPr>
          <a:xfrm>
            <a:off x="10305288" y="1920240"/>
            <a:ext cx="548640" cy="54864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10305288" y="192024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600" dirty="0"/>
          </a:p>
        </p:txBody>
      </p:sp>
      <p:sp>
        <p:nvSpPr>
          <p:cNvPr id="31" name="Text 29"/>
          <p:cNvSpPr txBox="1"/>
          <p:nvPr/>
        </p:nvSpPr>
        <p:spPr>
          <a:xfrm>
            <a:off x="9546336" y="2606040"/>
            <a:ext cx="206654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S12</a:t>
            </a:r>
            <a:endParaRPr lang="en-US" sz="1200" dirty="0"/>
          </a:p>
        </p:txBody>
      </p:sp>
      <p:sp>
        <p:nvSpPr>
          <p:cNvPr id="32" name="Shape 30"/>
          <p:cNvSpPr/>
          <p:nvPr/>
        </p:nvSpPr>
        <p:spPr>
          <a:xfrm>
            <a:off x="9546336" y="2971800"/>
            <a:ext cx="2066544" cy="2377440"/>
          </a:xfrm>
          <a:prstGeom prst="roundRect">
            <a:avLst>
              <a:gd name="adj" fmla="val 2655"/>
            </a:avLst>
          </a:prstGeom>
          <a:solidFill>
            <a:srgbClr val="F4F6FA"/>
          </a:solidFill>
          <a:ln/>
        </p:spPr>
      </p:sp>
      <p:sp>
        <p:nvSpPr>
          <p:cNvPr id="33" name="Text 31"/>
          <p:cNvSpPr txBox="1"/>
          <p:nvPr/>
        </p:nvSpPr>
        <p:spPr>
          <a:xfrm>
            <a:off x="9656064" y="3108960"/>
            <a:ext cx="184708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Entrega &amp; Treinamento</a:t>
            </a:r>
            <a:endParaRPr lang="en-US" sz="1200" dirty="0"/>
          </a:p>
        </p:txBody>
      </p:sp>
      <p:sp>
        <p:nvSpPr>
          <p:cNvPr id="34" name="Text 32"/>
          <p:cNvSpPr txBox="1"/>
          <p:nvPr/>
        </p:nvSpPr>
        <p:spPr>
          <a:xfrm>
            <a:off x="9656064" y="3840480"/>
            <a:ext cx="1847088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Treinamento da equipe, painel web e termo de aceite.</a:t>
            </a:r>
            <a:endParaRPr lang="en-US" sz="950" dirty="0"/>
          </a:p>
        </p:txBody>
      </p:sp>
      <p:sp>
        <p:nvSpPr>
          <p:cNvPr id="35" name="Text 33"/>
          <p:cNvSpPr txBox="1"/>
          <p:nvPr/>
        </p:nvSpPr>
        <p:spPr>
          <a:xfrm>
            <a:off x="457200" y="6473952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Novo Shopping — Retrofit HVAC Inteligente</a:t>
            </a:r>
            <a:endParaRPr lang="en-US" sz="900" dirty="0"/>
          </a:p>
        </p:txBody>
      </p:sp>
      <p:sp>
        <p:nvSpPr>
          <p:cNvPr id="36" name="Text 34"/>
          <p:cNvSpPr txBox="1"/>
          <p:nvPr/>
        </p:nvSpPr>
        <p:spPr>
          <a:xfrm>
            <a:off x="11000232" y="6473952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 / 15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4F6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110916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Perguntas Frequentes &amp; Mitigação de Riscos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548640" y="1371600"/>
            <a:ext cx="110642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/>
          <a:effectLst>
            <a:outerShdw blurRad="63500" dist="25400" dir="5400000" algn="bl" rotWithShape="0">
              <a:srgbClr val="888888">
                <a:alpha val="20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777240" y="1627632"/>
            <a:ext cx="502920" cy="502920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777240" y="1627632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?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1463040" y="1508760"/>
            <a:ext cx="9875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que acontece se o CLP falhar?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1463040" y="1920240"/>
            <a:ext cx="98755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Chave seletora manual/automática em cada quadro. O operador comuta em 1 segundo para o modo manual analógico de emergência.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548640" y="2971800"/>
            <a:ext cx="110642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/>
          <a:effectLst>
            <a:outerShdw blurRad="63500" dist="25400" dir="5400000" algn="bl" rotWithShape="0">
              <a:srgbClr val="888888">
                <a:alpha val="20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777240" y="3227832"/>
            <a:ext cx="502920" cy="502920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777240" y="3227832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?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1463040" y="3108960"/>
            <a:ext cx="9875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economia compromete o conforto térmico em dias quentes?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1463040" y="3520440"/>
            <a:ext cx="98755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Não. O CLP monitora o erro de temperatura; em dias de calor extremo ou alta lotação, a Escrava entra em auxílio imediato.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548640" y="4572000"/>
            <a:ext cx="110642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/>
          <a:effectLst>
            <a:outerShdw blurRad="63500" dist="25400" dir="5400000" algn="bl" rotWithShape="0">
              <a:srgbClr val="888888">
                <a:alpha val="20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777240" y="4828032"/>
            <a:ext cx="502920" cy="502920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777240" y="4828032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?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1463040" y="4709160"/>
            <a:ext cx="9875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que comprova que a economia é real?</a:t>
            </a:r>
            <a:endParaRPr lang="en-US" sz="1400" dirty="0"/>
          </a:p>
        </p:txBody>
      </p:sp>
      <p:sp>
        <p:nvSpPr>
          <p:cNvPr id="17" name="Text 15"/>
          <p:cNvSpPr txBox="1"/>
          <p:nvPr/>
        </p:nvSpPr>
        <p:spPr>
          <a:xfrm>
            <a:off x="1463040" y="5120640"/>
            <a:ext cx="98755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Telemetria já instalada nos pilotos (FC-17, FC-27, FC-28) comprovou a redução do acionamento síncrono e a conformidade do rodízio.</a:t>
            </a:r>
            <a:endParaRPr lang="en-US" sz="1150" dirty="0"/>
          </a:p>
        </p:txBody>
      </p:sp>
      <p:sp>
        <p:nvSpPr>
          <p:cNvPr id="18" name="Text 16"/>
          <p:cNvSpPr txBox="1"/>
          <p:nvPr/>
        </p:nvSpPr>
        <p:spPr>
          <a:xfrm>
            <a:off x="457200" y="6473952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Novo Shopping — Retrofit HVAC Inteligente</a:t>
            </a:r>
            <a:endParaRPr lang="en-US" sz="900" dirty="0"/>
          </a:p>
        </p:txBody>
      </p:sp>
      <p:sp>
        <p:nvSpPr>
          <p:cNvPr id="19" name="Text 17"/>
          <p:cNvSpPr txBox="1"/>
          <p:nvPr/>
        </p:nvSpPr>
        <p:spPr>
          <a:xfrm>
            <a:off x="11000232" y="6473952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 / 15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1E276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463040" y="-1645920"/>
            <a:ext cx="4754880" cy="4754880"/>
          </a:xfrm>
          <a:prstGeom prst="ellipse">
            <a:avLst/>
          </a:prstGeom>
          <a:solidFill>
            <a:srgbClr val="141B45"/>
          </a:solidFill>
          <a:ln/>
        </p:spPr>
      </p:sp>
      <p:sp>
        <p:nvSpPr>
          <p:cNvPr id="3" name="Shape 1"/>
          <p:cNvSpPr/>
          <p:nvPr/>
        </p:nvSpPr>
        <p:spPr>
          <a:xfrm>
            <a:off x="9875520" y="4389120"/>
            <a:ext cx="4114800" cy="4114800"/>
          </a:xfrm>
          <a:prstGeom prst="ellipse">
            <a:avLst/>
          </a:prstGeom>
          <a:solidFill>
            <a:srgbClr val="028090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640080" y="502920"/>
            <a:ext cx="10515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Conclusão, Parecer Técnico e Próximos Passos</a:t>
            </a:r>
            <a:endParaRPr lang="en-US" sz="28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1463040"/>
            <a:ext cx="10881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40000"/>
              </a:lnSpc>
              <a:buNone/>
            </a:pPr>
            <a:r>
              <a:rPr lang="en-US" sz="15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Projeto tecnicamente maduro, financeiramente de altíssimo retorno e ambientalmente responsável.
</a:t>
            </a:r>
            <a:r>
              <a:rPr lang="en-US" sz="1500" b="1" dirty="0">
                <a:solidFill>
                  <a:srgbClr val="00A8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Investimento de R$ 301.000,00 </a:t>
            </a:r>
            <a:r>
              <a:rPr lang="en-US" sz="15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 retorno garantido </a:t>
            </a:r>
            <a:r>
              <a:rPr lang="en-US" sz="150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 </a:t>
            </a:r>
            <a:r>
              <a:rPr lang="en-US" sz="1500" b="1">
                <a:solidFill>
                  <a:srgbClr val="00A8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16,5 meses.</a:t>
            </a:r>
            <a:r>
              <a:rPr lang="en-US" sz="1500" b="1" dirty="0">
                <a:solidFill>
                  <a:srgbClr val="00A8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
Redução permanente </a:t>
            </a:r>
            <a:r>
              <a:rPr lang="en-US" sz="1500" b="1">
                <a:solidFill>
                  <a:srgbClr val="00A8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R$ 217.686,42/</a:t>
            </a:r>
            <a:r>
              <a:rPr lang="en-US" sz="1500" b="1" dirty="0">
                <a:solidFill>
                  <a:srgbClr val="00A8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ano </a:t>
            </a:r>
            <a:r>
              <a:rPr lang="en-US" sz="15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custo operacional de energia elétrica.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333756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0A89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Próximos Passos Recomendados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640080" y="3840480"/>
            <a:ext cx="411480" cy="411480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640080" y="384048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1234440" y="3858768"/>
            <a:ext cx="9875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Aprovação da proposta executiva pela Diretoria e Conselho Gestor.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640080" y="4434840"/>
            <a:ext cx="411480" cy="411480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640080" y="443484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1234440" y="4453128"/>
            <a:ext cx="9875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Assinatura do contrato de fornecimento e serviços.</a:t>
            </a:r>
            <a:endParaRPr lang="en-US" sz="1350" dirty="0"/>
          </a:p>
        </p:txBody>
      </p:sp>
      <p:sp>
        <p:nvSpPr>
          <p:cNvPr id="13" name="Shape 11"/>
          <p:cNvSpPr/>
          <p:nvPr/>
        </p:nvSpPr>
        <p:spPr>
          <a:xfrm>
            <a:off x="640080" y="5029200"/>
            <a:ext cx="411480" cy="411480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640080" y="502920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1234440" y="5047488"/>
            <a:ext cx="9875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Início imediato da Fase 01 do cronograma executivo.</a:t>
            </a:r>
            <a:endParaRPr lang="en-US" sz="1350" dirty="0"/>
          </a:p>
        </p:txBody>
      </p:sp>
      <p:sp>
        <p:nvSpPr>
          <p:cNvPr id="16" name="Shape 14"/>
          <p:cNvSpPr/>
          <p:nvPr/>
        </p:nvSpPr>
        <p:spPr>
          <a:xfrm>
            <a:off x="640080" y="5806440"/>
            <a:ext cx="10881360" cy="0"/>
          </a:xfrm>
          <a:prstGeom prst="line">
            <a:avLst/>
          </a:prstGeom>
          <a:noFill/>
          <a:ln w="12700">
            <a:solidFill>
              <a:srgbClr val="141B45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640080" y="5989320"/>
            <a:ext cx="10881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1050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3D Ar Condicionado — Engenharia Térmica &amp; Automação Industrial</a:t>
            </a:r>
            <a:endParaRPr lang="en-US" sz="1050" dirty="0"/>
          </a:p>
          <a:p>
            <a:pPr marL="0" indent="0">
              <a:lnSpc>
                <a:spcPct val="130000"/>
              </a:lnSpc>
              <a:buNone/>
            </a:pPr>
            <a:r>
              <a:rPr lang="en-US" sz="1050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Eng. Victor Hugo Mota de Almeida — Especialista em Eficiência Energética &amp; Automação Industrial</a:t>
            </a:r>
            <a:endParaRPr lang="en-US" sz="10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1838</Words>
  <Application>Microsoft Office PowerPoint</Application>
  <PresentationFormat>Widescreen</PresentationFormat>
  <Paragraphs>345</Paragraphs>
  <Slides>15</Slides>
  <Notes>15</Notes>
  <HiddenSlides>0</HiddenSlides>
  <MMClips>0</MMClips>
  <ScaleCrop>false</ScaleCrop>
  <HeadingPairs>
    <vt:vector size="6" baseType="variant">
      <vt:variant>
        <vt:lpstr>Fontes usadas</vt:lpstr>
      </vt:variant>
      <vt:variant>
        <vt:i4>4</vt:i4>
      </vt:variant>
      <vt:variant>
        <vt:lpstr>Tema</vt:lpstr>
      </vt:variant>
      <vt:variant>
        <vt:i4>1</vt:i4>
      </vt:variant>
      <vt:variant>
        <vt:lpstr>Títulos de slides</vt:lpstr>
      </vt:variant>
      <vt:variant>
        <vt:i4>15</vt:i4>
      </vt:variant>
    </vt:vector>
  </HeadingPairs>
  <TitlesOfParts>
    <vt:vector size="20" baseType="lpstr">
      <vt:lpstr>Arial</vt:lpstr>
      <vt:lpstr>Calibri</vt:lpstr>
      <vt:lpstr>Cambria</vt:lpstr>
      <vt:lpstr>Courier New</vt:lpstr>
      <vt:lpstr>Office Theme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victor hugo</cp:lastModifiedBy>
  <cp:revision>3</cp:revision>
  <dcterms:created xsi:type="dcterms:W3CDTF">2026-08-26T19:20:24Z</dcterms:created>
  <dcterms:modified xsi:type="dcterms:W3CDTF">2026-08-26T19:59:17Z</dcterms:modified>
</cp:coreProperties>
</file>