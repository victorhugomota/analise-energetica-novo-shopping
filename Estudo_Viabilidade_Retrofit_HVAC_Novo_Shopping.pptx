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Economia Anual (R$ mil)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0,65</c:v>
                  </c:pt>
                  <c:pt idx="1">
                    <c:v>0,75</c:v>
                  </c:pt>
                  <c:pt idx="2">
                    <c:v>0,85</c:v>
                  </c:pt>
                  <c:pt idx="3">
                    <c:v>1,00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188.7</c:v>
                </c:pt>
                <c:pt idx="1">
                  <c:v>217.7</c:v>
                </c:pt>
                <c:pt idx="2">
                  <c:v>246.7</c:v>
                </c:pt>
                <c:pt idx="3">
                  <c:v>290.2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Economia Anual (R$ mil)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30%</c:v>
                  </c:pt>
                  <c:pt idx="1">
                    <c:v>40%</c:v>
                  </c:pt>
                  <c:pt idx="2">
                    <c:v>50% (padrão)</c:v>
                  </c:pt>
                  <c:pt idx="3">
                    <c:v>60%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435.4</c:v>
                </c:pt>
                <c:pt idx="1">
                  <c:v>326.5</c:v>
                </c:pt>
                <c:pt idx="2">
                  <c:v>217.7</c:v>
                </c:pt>
                <c:pt idx="3">
                  <c:v>108.8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kWh/mês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Com CLP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237000</c:v>
                </c:pt>
                <c:pt idx="1">
                  <c:v>212813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R$/ano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Com CLP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2132999.57</c:v>
                </c:pt>
                <c:pt idx="1">
                  <c:v>1915313.15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Fluxo de Caixa Acumulado (R$)</c:v>
                </c:pt>
              </c:strCache>
            </c:strRef>
          </c:tx>
          <c:spPr>
            <a:solidFill>
              <a:srgbClr val="028090"/>
            </a:solidFill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Mês 0</c:v>
                  </c:pt>
                  <c:pt idx="1">
                    <c:v>Mês 6</c:v>
                  </c:pt>
                  <c:pt idx="2">
                    <c:v>Mês 12</c:v>
                  </c:pt>
                  <c:pt idx="3">
                    <c:v>Mês 16,6</c:v>
                  </c:pt>
                  <c:pt idx="4">
                    <c:v>Mês 24</c:v>
                  </c:pt>
                  <c:pt idx="5">
                    <c:v>Mês 36</c:v>
                  </c:pt>
                  <c:pt idx="6">
                    <c:v>Mês 48</c:v>
                  </c:pt>
                  <c:pt idx="7">
                    <c:v>Mês 60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-301000</c:v>
                </c:pt>
                <c:pt idx="1">
                  <c:v>-192156.82</c:v>
                </c:pt>
                <c:pt idx="2">
                  <c:v>-83313.64</c:v>
                </c:pt>
                <c:pt idx="3">
                  <c:v>0</c:v>
                </c:pt>
                <c:pt idx="4">
                  <c:v>134372.72</c:v>
                </c:pt>
                <c:pt idx="5">
                  <c:v>352059.08</c:v>
                </c:pt>
                <c:pt idx="6">
                  <c:v>569745.44</c:v>
                </c:pt>
                <c:pt idx="7">
                  <c:v>787432.1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303520" cy="5303520"/>
          </a:xfrm>
          <a:prstGeom prst="ellipse">
            <a:avLst/>
          </a:prstGeom>
          <a:solidFill>
            <a:srgbClr val="141B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297680"/>
            <a:ext cx="3291840" cy="3291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1280160" y="5120640"/>
            <a:ext cx="2926080" cy="2926080"/>
          </a:xfrm>
          <a:prstGeom prst="ellipse">
            <a:avLst/>
          </a:prstGeom>
          <a:solidFill>
            <a:srgbClr val="141B45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VIABILIDADE TÉCNICA E ECONÔMICA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do Sistema de Climatização (HVAC) — Automação e Gerenciamento Inteligente por CLP em 38 Equipamentos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2194560" cy="0"/>
          </a:xfrm>
          <a:prstGeom prst="line">
            <a:avLst/>
          </a:prstGeom>
          <a:noFill/>
          <a:ln w="38100">
            <a:solidFill>
              <a:srgbClr val="00A89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42519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Center — Setor de Engenharia e Manutenção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Técnica: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Ar Condicionado — Engenharia Térmica &amp; Automação Industrial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Técnico: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Victor Hugo Mota de Almeida
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/ Data: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Ribeirão Preto / SP — Agosto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Executivo &amp; Principais Indicadores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de 38 climatizadores com automação inteligente por CLP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R$ 301.000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Total (CAPEX)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410712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R$ 217.686 /ano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Anual Recorrente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9904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81344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10,2 %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81344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de Consumo de Energia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0536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951976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16,5 meses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951976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Simples (~1,4 ano)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+261,6 %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em 5 Anos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319272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3410712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R$ 484.710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410712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(TMA 12% a.a.)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9904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181344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290.249 kWh/ano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181344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Economizada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860536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951976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25,0 tCO2/ano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951976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Descarbonização ESG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da Instalação Existente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anterior — controle analógico e descentralizado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813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Acionamento Simultâneo Forçado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783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condensadoras ligam juntas a 100% de carga, gerando pico de corrente de partida.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3288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"Chattering"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46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Liga/desliga constante dos compressores de grande porte sob carga plena.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8444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Desgaste Mecânico Desbalanceado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862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Inexistência de rodízio de horas entre compressores.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63600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Duty Cycle Contínuo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937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as UCs ciclam com 70% de duty cycle o tempo todo.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1508760"/>
            <a:ext cx="4343400" cy="42062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58952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do Cenário Atual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3317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mensal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2331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237.000 kWh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589520" y="28346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58952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mensal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R$ 177.749,96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589520" y="35204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58952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anual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R$ 2.132.999,57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589520" y="42062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7589520" y="45262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máquinas, sem monitoramento centralizado ou telemetria em tempo real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 de Engenharia Proposta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térmico por CLP inteligente — 4 pilares tecnológicos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Proporcional em 2 Estágios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488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do acionamento síncrono. Na estabilidade térmica, opera apenas a unidade Mestre; a Escrava só entra em picos de sobrecarga.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922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Rodízio Automático a Cada 12h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1488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CLP alterna Mestre e Escrava a cada 12 horas, equalizando o desgaste e as horas de vida útil dos compressores.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77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Ativa 100%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5720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contínuo de corrente e fluxo. Em falha da Mestre, a Escrava assume em menos de 1 segundo.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8862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92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Centralizada Remota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45720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 e supervisão em tempo real de temperatura, alarmes e ajustes de setpoint à distância.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Metodologia de Cálculo e Fórmulas Termoelétricas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Premissas Elétricas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Tensão de alimentação: </a:t>
            </a:r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380V trifásico
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 de potência (cos phi): </a:t>
            </a:r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
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Corrente nominal: </a:t>
            </a:r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(P_total x 1000) / (raiz(3) x 380 x 0,95)
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 mensal: </a:t>
            </a:r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4,33 semanas/mês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Jornada Diária (12h de Operação)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3566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Pull-Down — 1,5h
</a:t>
            </a:r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Rampa inicial: 100% dos compressores em conjunto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45262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— 10,5h
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estabilizada: economia do CLP atua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05156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5379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Equações de Consumo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Antes (Analógico)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103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Consumo = Qtd_UC x Pot_UC x [min(Horas,Setup) + max(0,Horas-Setup) x DC_Antes]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DC_Antes = 0,70 (70% em ambas as UCs)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7960" y="3200400"/>
            <a:ext cx="4846320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537960" y="3337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Depois (CLP Inteligente)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657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Consumo = Qtd_UC x Pot_UC x min(Horas,Setup) + [(1 x Pot_UC x DC_Mestre) + (Qtd_UC-1) x Pot_UC x DC_Escrava] x max(0,Horas-Setup)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DC_Mestre = 0,70 | DC_Escrava = 0,50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Parâmetros Operacionais Padrão (Baseline)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1672" cy="5120640"/>
        </p:xfrm>
        <a:graphic>
          <a:graphicData uri="http://schemas.openxmlformats.org/drawingml/2006/table">
            <a:tbl>
              <a:tblPr/>
              <a:tblGrid>
                <a:gridCol w="6126480"/>
                <a:gridCol w="237744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Setpoint de Temperatura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°C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Histerese de Controle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°C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de Revezamento Mestre/Escrava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de Energia Elétrica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R$/kWh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Investimento CAPEX 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R$ 301.000,00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Antes (Ambas UCs)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 (70%)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Mestre Depois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 (70%)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Escrava Depois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 (50%)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de Operação (todos os dias)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horas/dia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de Pull-Down (Setup)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de Climatizadores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Mínima de Atratividade (TMA)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a.a.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Emissão de Carbono (SIN/MCTI)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kg CO2/kWh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&amp; Sensibilidade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 variável impacta consumo, custo e retorno financeiro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Tarifa de Energia (R$/kWh)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5394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63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Duty Cycle da Unidade Escrava</a:t>
            </a:r>
            <a:endParaRPr lang="en-US" sz="12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63640" y="1783080"/>
          <a:ext cx="5394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777240" y="40690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operação: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+2h/dia (Black Friday/Natal) eleva a economia para R$ 259.294,79/ano (payback 13,9 meses).   </a:t>
            </a:r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CAPEX: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R$ 50 mil a mais/menos desloca o payback em ~2,7 meses, sem alterar a economia física gerada.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pPr indent="0" marL="0">
              <a:lnSpc>
                <a:spcPct val="135000"/>
              </a:lnSpc>
              <a:buNone/>
            </a:pPr>
            <a:r>
              <a:t>Escala linear por máquina retrofitada: cada climatizador gera R$ 477,38/mês (R$ 5.728,59/ano) de economia líquida individual — 10 máquinas = R$ 57.285,90/ano; 38 máquinas (parque total) = R$ 217.686,42/ano.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Parque Instalado: Cadastro dos 38 Climatizadores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Climatizadores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79776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2871216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871216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Unid. Condensadoras (UCs)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10912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102352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102352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Unid. Evaporadoras (UEs)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333488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851,1 kW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33488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Instalada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473184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564624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1.361,6 A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564624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Corrente Total (380V)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Tipologia de Evaporadora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7315200" cy="2606040"/>
        </p:xfrm>
        <a:graphic>
          <a:graphicData uri="http://schemas.openxmlformats.org/drawingml/2006/table">
            <a:tbl>
              <a:tblPr/>
              <a:tblGrid>
                <a:gridCol w="3474720"/>
                <a:gridCol w="1097280"/>
                <a:gridCol w="1371600"/>
                <a:gridCol w="1371600"/>
              </a:tblGrid>
              <a:tr h="3722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Tipologia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Pot. 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1 — 1 UE de 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34,4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2 — 1 UE de 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3 — 1 UE de 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4 — 2 UEs de 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5 — 2 UEs de 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39,0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6 — 2 UEs de 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41,6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183880" y="3474720"/>
            <a:ext cx="347472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8412480" y="3703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 kW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de evaporadoras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412480" y="4709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760,0 kW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5212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de condensadoras (76 UCs de 10,0 kW)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Prática em Campo — Telemetria (Logs R1)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minuto a minuto direto dos CLPs durante 12h de expediente diário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1554480"/>
        </p:xfrm>
        <a:graphic>
          <a:graphicData uri="http://schemas.openxmlformats.org/drawingml/2006/table">
            <a:tbl>
              <a:tblPr/>
              <a:tblGrid>
                <a:gridCol w="1051560"/>
                <a:gridCol w="731520"/>
                <a:gridCol w="1737360"/>
                <a:gridCol w="1234440"/>
                <a:gridCol w="1280160"/>
                <a:gridCol w="1508760"/>
                <a:gridCol w="1234440"/>
                <a:gridCol w="1399032"/>
              </a:tblGrid>
              <a:tr h="3886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p/ Setpoint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Mestre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Escrava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Ambos ON/dia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Rodízio 12h?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351,8 min (~5,9h)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203,7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 min (~2,0h)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43,0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 min (~0,5h)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 de Engenharia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70332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76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Rodízio automático de 12h operando com 100% de sucesso na alternância dos compressores líderes.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42976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Equipamentos com 2 evaporadoras atingem o setpoint em 30-120 min e reduzem o acionamento simultâneo para ~43-45 min/dia (~6% da jornada).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4864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49377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FC-17 (1 evaporadora, alta carga), o CLP evitou sobrecarga contínua, modulando a Escrava a 53,4% contra os 70% do sistema antigo.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Consolidado de Custos e Consumo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1672" cy="18288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2194560"/>
                <a:gridCol w="2011680"/>
                <a:gridCol w="16733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CLP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Consumo Mensal de Energia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237.000 kWh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212.813 kWh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24.187 kWh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-10,2%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Consumo Anual de Energia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2.843.999 kWh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2.553.751 kWh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290.249 kWh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-10,2%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Operacional Mensal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R$ 177.749,96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R$ 159.609,43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R$ 18.140,54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-10,2%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Operacional 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R$ 2.132.999,57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R$ 1.915.313,15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R$ 217.686,42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-10,2%</a:t>
                      </a: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63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Mensal de Energia (kWh)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3429000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3063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Operacional Anual (R$)</a:t>
            </a:r>
            <a:endParaRPr lang="en-US" sz="12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63640" y="3429000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Viabilidade Financeira (5 Anos)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R$ 301.000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Inicial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3756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342900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16,5 meses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Simples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21792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+262,8%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em 5 Anos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91540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00684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t>R$ 484.710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00684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(TMA 12%)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Fluxo de Caixa Acumulado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745236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8229600" y="2880360"/>
            <a:ext cx="3429000" cy="2880360"/>
          </a:xfrm>
          <a:prstGeom prst="roundRect">
            <a:avLst>
              <a:gd name="adj" fmla="val 254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8458200" y="3063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17º mês completo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458200" y="3886200"/>
            <a:ext cx="297180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8458200" y="4023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líquido em 5 anos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4582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R$ 787.432,10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458200" y="4846320"/>
            <a:ext cx="297180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845820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acumulada - CAPEX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5257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R$ 1.088.432,10 - R$ 301.000,00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Sustentabilidade Corporativa e Descarbonização ESG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t>25,0 tCO2/ano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emissões de gases de efeito estufa evitadas por ano (125 tCO2 em 5 anos)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3063240"/>
            <a:ext cx="466344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pPr indent="0" marL="0">
              <a:lnSpc>
                <a:spcPct val="150000"/>
              </a:lnSpc>
              <a:buNone/>
            </a:pPr>
            <a:pPr indent="0" marL="0">
              <a:lnSpc>
                <a:spcPct val="150000"/>
              </a:lnSpc>
              <a:buNone/>
            </a:pPr>
            <a:pPr indent="0" marL="0">
              <a:lnSpc>
                <a:spcPct val="150000"/>
              </a:lnSpc>
              <a:buNone/>
            </a:pPr>
            <a:r>
              <a:t>290.249 kWh/ano de energia economizada</a:t>
            </a:r>
            <a:br/>
            <a:r>
              <a:t>0,086 kg CO2/kWh fator de emissão (SIN / MCTI)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3716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12648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1.560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353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~1.560 árvores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916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plantadas e preservadas por ano para absorver o mesmo volume de carbono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27889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770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~54 veículos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31089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passeio a combustão retirados de circulação nas avenidas de Ribeirão Preto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420624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12648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187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Selos verdes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5262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 direta para certificações LEED, EDGE e ISO 50001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Executivo de Implantação (12 Semanas)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sem parada operacional — obras noturnas das 22h às 08h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581912" y="2194560"/>
            <a:ext cx="8997696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07592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307592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S1-S2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8368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&amp; Aquisição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Detalhamento, compra de CLPs, sensores de corrente e quadros.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57016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557016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798064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S3-S4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98064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907792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Bancada &amp; Programação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07792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bancada, testes e firmware dos CLPs.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80644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8064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47488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S5-S9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7488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157216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Física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57216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nos 38 climatizadores (7-8 máquinas/semana).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55864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055864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296912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S10-S11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296912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406640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Comissionamento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fino de setpoints e validação do rodízio 12h.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305288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0305288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546336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546336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656064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&amp; Treinamento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656064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da equipe, painel web e termo de aceite.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Frequentes &amp; Mitigação de Riscos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77240" y="16276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087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se o CLP falhar?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seletora manual/automática em cada quadro. O operador comuta em 1 segundo para o modo manual analógico de emergência.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2278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77240" y="3227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1089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economia compromete o conforto térmico em dias quentes?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204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Não. O CLP monitora o erro de temperatura; em dias de calor extremo ou alta lotação, a Escrava entra em auxílio imediato.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8280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772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7091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comprova que a economia é real?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1206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 já instalada nos pilotos (FC-17, FC-27, FC-28) comprovou a redução do acionamento síncrono e a conformidade do rodízio.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754880" cy="4754880"/>
          </a:xfrm>
          <a:prstGeom prst="ellipse">
            <a:avLst/>
          </a:prstGeom>
          <a:solidFill>
            <a:srgbClr val="141B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4389120"/>
            <a:ext cx="4114800" cy="41148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Conclusão, Parecer Técnico e Próximos Passos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pPr indent="0" marL="0">
              <a:lnSpc>
                <a:spcPct val="140000"/>
              </a:lnSpc>
              <a:buNone/>
            </a:pPr>
            <a:pPr indent="0" marL="0">
              <a:lnSpc>
                <a:spcPct val="140000"/>
              </a:lnSpc>
              <a:buNone/>
            </a:pPr>
            <a:pPr indent="0" marL="0">
              <a:lnSpc>
                <a:spcPct val="140000"/>
              </a:lnSpc>
              <a:buNone/>
            </a:pPr>
            <a:pPr indent="0" marL="0">
              <a:lnSpc>
                <a:spcPct val="140000"/>
              </a:lnSpc>
              <a:buNone/>
            </a:pPr>
            <a:pPr indent="0" marL="0">
              <a:lnSpc>
                <a:spcPct val="140000"/>
              </a:lnSpc>
              <a:buNone/>
            </a:pPr>
            <a:r>
              <a:t>Projeto tecnicamente maduro, financeiramente de altíssimo retorno e ambientalmente responsável.</a:t>
            </a:r>
            <a:br/>
            <a:br/>
            <a:r>
              <a:t>Investimento de R$ 301.000,00 com retorno garantido em 16,5 meses.</a:t>
            </a:r>
            <a:br/>
            <a:r>
              <a:t>Redução permanente de R$ 217.686,42/ano no custo operacional de energia elétrica.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 Recomendados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da proposta executiva pela Diretoria e Conselho Gestor.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4531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do contrato de fornecimento e serviços.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008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474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imediato da Fase 01 do cronograma executivo.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806440"/>
            <a:ext cx="108813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Ar Condicionado — Engenharia Térmica &amp; Automação Industrial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Victor Hugo Mota de Almeida — Especialista em Eficiência Energética &amp; Automação Industrial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2026-08-26T19:20:24Z</dcterms:created>
  <dcterms:modified xsi:type="dcterms:W3CDTF">2026-08-26T19:20:24Z</dcterms:modified>
</cp:coreProperties>
</file>