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Economia Anual (R$ mil)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0,65</c:v>
                  </c:pt>
                  <c:pt idx="1">
                    <c:v>0,75</c:v>
                  </c:pt>
                  <c:pt idx="2">
                    <c:v>0,85</c:v>
                  </c:pt>
                  <c:pt idx="3">
                    <c:v>1,00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188.7</c:v>
                </c:pt>
                <c:pt idx="1">
                  <c:v>217.7</c:v>
                </c:pt>
                <c:pt idx="2">
                  <c:v>246.7</c:v>
                </c:pt>
                <c:pt idx="3">
                  <c:v>290.2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Economia Anual (R$ mil)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30%</c:v>
                  </c:pt>
                  <c:pt idx="1">
                    <c:v>40%</c:v>
                  </c:pt>
                  <c:pt idx="2">
                    <c:v>50% (padrão)</c:v>
                  </c:pt>
                  <c:pt idx="3">
                    <c:v>60%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435.4</c:v>
                </c:pt>
                <c:pt idx="1">
                  <c:v>326.5</c:v>
                </c:pt>
                <c:pt idx="2">
                  <c:v>217.7</c:v>
                </c:pt>
                <c:pt idx="3">
                  <c:v>108.8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kWh/mês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Antes</c:v>
                  </c:pt>
                  <c:pt idx="1">
                    <c:v>Com CLP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237000</c:v>
                </c:pt>
                <c:pt idx="1">
                  <c:v>212813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R$/ano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Antes</c:v>
                  </c:pt>
                  <c:pt idx="1">
                    <c:v>Com CLP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2132999.57</c:v>
                </c:pt>
                <c:pt idx="1">
                  <c:v>1915313.15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Fluxo de Caixa Acumulado (R$)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Mês 0</c:v>
                  </c:pt>
                  <c:pt idx="1">
                    <c:v>Mês 6</c:v>
                  </c:pt>
                  <c:pt idx="2">
                    <c:v>Mês 12</c:v>
                  </c:pt>
                  <c:pt idx="3">
                    <c:v>Mês 16,6</c:v>
                  </c:pt>
                  <c:pt idx="4">
                    <c:v>Mês 24</c:v>
                  </c:pt>
                  <c:pt idx="5">
                    <c:v>Mês 36</c:v>
                  </c:pt>
                  <c:pt idx="6">
                    <c:v>Mês 48</c:v>
                  </c:pt>
                  <c:pt idx="7">
                    <c:v>Mês 60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-301000</c:v>
                </c:pt>
                <c:pt idx="1">
                  <c:v>-192156.82</c:v>
                </c:pt>
                <c:pt idx="2">
                  <c:v>-83313.64</c:v>
                </c:pt>
                <c:pt idx="3">
                  <c:v>0</c:v>
                </c:pt>
                <c:pt idx="4">
                  <c:v>134372.72</c:v>
                </c:pt>
                <c:pt idx="5">
                  <c:v>352059.08</c:v>
                </c:pt>
                <c:pt idx="6">
                  <c:v>569745.44</c:v>
                </c:pt>
                <c:pt idx="7">
                  <c:v>787432.1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303520" cy="530352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9768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VIABILIDADE TÉCNICA E ECONÔMICA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do Sistema de Climatização (HVAC) — Automação e Gerenciamento Inteligente por CLP em 38 Equipamentos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19456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519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Center — Setor de Engenharia e Manutenção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Técnica: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Ar Condicionado — Engenharia Térmica &amp; Automação Industrial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Técnico: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Victor Hugo Mota de Almeida
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Data: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Ribeirão Preto / SP — Agosto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Executivo &amp; Principais Indicadores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de 38 climatizadores com automação inteligente por CLP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527048"/>
            <a:ext cx="233172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R$ 301.000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9464"/>
            <a:ext cx="233172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Total (CAPEX)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4173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10712" y="1527048"/>
            <a:ext cx="233172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R$ 217.686 /ano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2569464"/>
            <a:ext cx="233172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Anual Recorrente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9904" y="14173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81344" y="1527048"/>
            <a:ext cx="233172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10,2 %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2569464"/>
            <a:ext cx="233172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Consumo de Energia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0536" y="14173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51976" y="1527048"/>
            <a:ext cx="233172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16,6 meses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951976" y="2569464"/>
            <a:ext cx="233172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Simples (~1,4 ano)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703320"/>
            <a:ext cx="233172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+261,6 %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745736"/>
            <a:ext cx="233172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em 5 Anos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9272" y="3593592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10712" y="3703320"/>
            <a:ext cx="233172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R$ 483.710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3410712" y="4745736"/>
            <a:ext cx="233172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 (TMA 12% a.a.)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9904" y="3593592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181344" y="3703320"/>
            <a:ext cx="233172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290.249 kWh/ano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181344" y="4745736"/>
            <a:ext cx="233172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Economizada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60536" y="3593592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951976" y="3703320"/>
            <a:ext cx="2331720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 tCO2/ano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951976" y="4745736"/>
            <a:ext cx="233172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Descarbonização ESG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da Instalação Existente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anterior — controle analógico e descentralizado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813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Acionamento Simultâneo Forçado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condensadoras ligam juntas a 100% de carga, gerando pico de corrente de partida.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3288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"Chattering"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46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Liga/desliga constante dos compressores de grande porte sob carga plena.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844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Desgaste Mecânico Desbalanceado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8862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Inexistência de rodízio de horas entre compressores.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63600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Duty Cycle Contínuo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9377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as UCs ciclam com 70% de duty cycle o tempo todo.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1508760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Cenário Atual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mensal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237.000 kWh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589520" y="2834640"/>
            <a:ext cx="3794760" cy="0"/>
          </a:xfrm>
          <a:prstGeom prst="line">
            <a:avLst/>
          </a:prstGeom>
          <a:noFill/>
          <a:ln w="12700">
            <a:solidFill>
              <a:srgbClr val="141B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mensal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R$ 177.749,96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589520" y="3520440"/>
            <a:ext cx="3794760" cy="0"/>
          </a:xfrm>
          <a:prstGeom prst="line">
            <a:avLst/>
          </a:prstGeom>
          <a:noFill/>
          <a:ln w="12700">
            <a:solidFill>
              <a:srgbClr val="141B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anual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R$ 2.132.999,57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589520" y="4206240"/>
            <a:ext cx="3794760" cy="0"/>
          </a:xfrm>
          <a:prstGeom prst="line">
            <a:avLst/>
          </a:prstGeom>
          <a:noFill/>
          <a:ln w="12700">
            <a:solidFill>
              <a:srgbClr val="141B4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0" y="45262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máquinas, sem monitoramento centralizado ou telemetria em tempo real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 de Engenharia Proposta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térmico por CLP inteligente — 4 pilares tecnológicos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64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Proporcional em 2 Estágios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488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acionamento síncrono. Na estabilidade térmica, opera apenas a unidade Mestre; a Escrava só entra em picos de sobrecarga.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664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Rodízio Automático a Cada 12h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1488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CLP alterna Mestre e Escrava a cada 12 horas, equalizando o desgaste e as horas de vida útil dos compressores.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069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 Ativa 100%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5720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 de corrente e fluxo. Em falha da Mestre, a Escrava assume em menos de 1 segundo.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886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4069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Centralizada Remota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5720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e supervisão em tempo real de temperatura, alarmes e ajustes de setpoint à distância.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de Cálculo e Fórmulas Termoelétricas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 Elétricas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de alimentação: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380V trifásico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de potência (cos phi):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0,95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Corrente nominal: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(P_total x 1000) / (raiz(3) x 380 x 0,95)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mensal: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 semanas/mês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Jornada Diária (12h de Operação)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566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Pull-Down — 1,5h
</a:t>
            </a:r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Rampa inicial: 100% dos compressores em conjunto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526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— 10,5h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estabilizada: economia do CLP atua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0515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280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Equações de Consumo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Antes (Analógico)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031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Consumo = Qtd_UC x Pot_UC x [min(Horas,Setup) + max(0,Horas-Setup) x DC_Antes]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DC_Antes = 0,70 (70% em ambas as UCs)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3200400"/>
            <a:ext cx="484632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3337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Depois (CLP Inteligente)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6576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Consumo = Qtd_UC x Pot_UC x min(Horas,Setup) + [(1 x Pot_UC x DC_Mestre) + (Qtd_UC-1) x Pot_UC x DC_Escrava] x max(0,Horas-Setup)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DC_Mestre = 0,70 | DC_Escrava = 0,50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Parâmetros Operacionais Padrão (Baseline)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5120640"/>
        </p:xfrm>
        <a:graphic>
          <a:graphicData uri="http://schemas.openxmlformats.org/drawingml/2006/table">
            <a:tbl>
              <a:tblPr/>
              <a:tblGrid>
                <a:gridCol w="6126480"/>
                <a:gridCol w="237744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Setpoint de Temperatura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Histerese de Controle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de Revezamento Mestre/Escrava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de Energia Elétrica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R$/kWh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 CAPEX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R$ 301.000,00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Duty Cycle Antes (Ambas UCs)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 (70%)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Duty Cycle Mestre Depois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 (70%)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Duty Cycle Escrava Depois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 (50%)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de Operação (todos os dias)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horas/dia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de Pull-Down (Setup)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 de Climatizadores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Mínima de Atratividade (TMA)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a.a.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Fator de Emissão de Carbono (SIN/MCTI)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CO2/kWh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&amp; Sensibilidade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 variável impacta consumo, custo e retorno financeiro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Tarifa de Energia (R$/kWh)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5394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Duty Cycle da Unidade Escrava</a:t>
            </a:r>
            <a:endParaRPr lang="en-US" sz="12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783080"/>
          <a:ext cx="5394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4069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operação: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+2h/dia (Black Friday/Natal) eleva a economia para R$ 259.294,79/ano (payback 13,9 meses).  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R$ 50 mil a mais/menos desloca o payback em ~2,7 meses, sem alterar a economia física gerada.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linear por máquina retrofitada: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climatizador gera R$ 477,38/mês (R$ 5.728,59/ano) de economia líquida individual — 10 máquinas = R$ 57.285,90/ano; 38 máquinas (parque total) = R$ 217.686,42/ano.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 Instalado: Cadastro dos 38 Climatizadores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527048"/>
            <a:ext cx="190195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67712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Climatizadores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79776" y="1417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871216" y="1527048"/>
            <a:ext cx="190195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871216" y="2267712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Unid. Condensadoras (UCs)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10912" y="1417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102352" y="1527048"/>
            <a:ext cx="190195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102352" y="2267712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Unid. Evaporadoras (UEs)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42048" y="1417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33488" y="1527048"/>
            <a:ext cx="190195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851,1 kW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333488" y="2267712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Total Instalada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73184" y="1417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564624" y="1527048"/>
            <a:ext cx="190195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1.361,6 A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564624" y="2267712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Corrente Total (380V)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por Tipologia de Evaporadora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7315200" cy="2606040"/>
        </p:xfrm>
        <a:graphic>
          <a:graphicData uri="http://schemas.openxmlformats.org/drawingml/2006/table">
            <a:tbl>
              <a:tblPr/>
              <a:tblGrid>
                <a:gridCol w="3474720"/>
                <a:gridCol w="1097280"/>
                <a:gridCol w="1371600"/>
                <a:gridCol w="1371600"/>
              </a:tblGrid>
              <a:tr h="3722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Tipologia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Pot.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1 — 1 UE de 1,5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21,5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34,4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2 — 1 UE de 2,2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35,5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3 — 1 UE de 3,0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36,8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4 — 2 UEs de 1,5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36,8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5 — 2 UEs de 2,2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24,4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39,0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6 — 2 UEs de 3,0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 kW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8183880" y="3474720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41248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91,1 kW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total de evaporadoras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0" y="4709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760,0 kW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total de condensadoras (76 UCs de 10,0 kW)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Prática em Campo — Telemetria (Logs R1)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minuto a minuto direto dos CLPs durante 12h de expediente diário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1554480"/>
        </p:xfrm>
        <a:graphic>
          <a:graphicData uri="http://schemas.openxmlformats.org/drawingml/2006/table">
            <a:tbl>
              <a:tblPr/>
              <a:tblGrid>
                <a:gridCol w="1051560"/>
                <a:gridCol w="731520"/>
                <a:gridCol w="1737360"/>
                <a:gridCol w="1234440"/>
                <a:gridCol w="1280160"/>
                <a:gridCol w="1508760"/>
                <a:gridCol w="1234440"/>
                <a:gridCol w="1399032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p/ Setpoint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Mestre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Escrava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 ON/dia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Rodízio 12h?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351,8 min (~5,9h)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203,7 min/dia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121,5 min (~2,0h)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43,0 min/dia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 min (~0,5h)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 min/dia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 de Engenharia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7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Rodízio automático de 12h operando com 100% de sucesso na alternância dos compressores líderes.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42976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com 2 evaporadoras atingem o setpoint em 30-120 min e reduzem o acionamento simultâneo para ~43-45 min/dia (~6% da jornada).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4937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FC-17 (1 evaporadora, alta carga), o CLP evitou sobrecarga contínua, modulando a Escrava a 53,4% contra os 70% do sistema antigo.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 Consolidado de Custos e Consumo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2194560"/>
                <a:gridCol w="2194560"/>
                <a:gridCol w="2011680"/>
                <a:gridCol w="16733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CLP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Mensal de Energia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237.000 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212.813 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24.187 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-10,2%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Anual de Energia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2.843.999 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2.553.751 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290.249 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-10,2%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Operacional Mensal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R$ 177.749,96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R$ 159.609,43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R$ 18.140,53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-10,2%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 Operacional 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R$ 2.132.999,57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R$ 1.915.313,15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R$ 217.686,42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-10,2%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F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063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Mensal de Energia (kWh)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342900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263640" y="3063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Operacional Anual (R$)</a:t>
            </a:r>
            <a:endParaRPr lang="en-US" sz="12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342900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Viabilidade Financeira (5 Anos)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61288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R$ 301.000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19656"/>
            <a:ext cx="24231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Inicial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10515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161288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16,6 meses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19656"/>
            <a:ext cx="24231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Simples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0515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1161288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+261,6%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19656"/>
            <a:ext cx="24231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em 5 Anos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15400" y="10515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06840" y="1161288"/>
            <a:ext cx="2423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R$ 483.710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1819656"/>
            <a:ext cx="24231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 (TMA 12%)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Fluxo de Caixa Acumulado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2880360"/>
          <a:ext cx="74523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8229600" y="288036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5820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5820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17º mês completo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8458200" y="3886200"/>
            <a:ext cx="2971800" cy="0"/>
          </a:xfrm>
          <a:prstGeom prst="line">
            <a:avLst/>
          </a:prstGeom>
          <a:noFill/>
          <a:ln w="12700">
            <a:solidFill>
              <a:srgbClr val="141B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4023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líquido em 5 anos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45820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R$ 787.432,10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458200" y="4846320"/>
            <a:ext cx="2971800" cy="0"/>
          </a:xfrm>
          <a:prstGeom prst="line">
            <a:avLst/>
          </a:prstGeom>
          <a:noFill/>
          <a:ln w="12700">
            <a:solidFill>
              <a:srgbClr val="141B4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58200" y="4983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acumulada - CAPEX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458200" y="5257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R$ 1.088.432,10 - R$ 301.000,00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Sustentabilidade Corporativa e Descarbonização ESG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 tCO2/ano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emissões de gases de efeito estufa evitadas por ano (125 tCO2 em 5 anos)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4663440" cy="0"/>
          </a:xfrm>
          <a:prstGeom prst="line">
            <a:avLst/>
          </a:prstGeom>
          <a:noFill/>
          <a:ln w="12700">
            <a:solidFill>
              <a:srgbClr val="141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461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290.249 kWh/ano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energia economizada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0,086 kg CO2/kWh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de emissão (SIN / MCTI)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1.560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353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~1.560 árvores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691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plantadas e preservadas por ano para absorver o mesmo volume de carbono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7889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770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~54 veículos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108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passeio a combustão retirados de circulação nas avenidas de Ribeirão Preto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42062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4187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Selos verdes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526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 direta para certificações LEED, EDGE e ISO 50001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Executivo de Implantação (12 Semanas)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sem parada operacional — obras noturnas das 22h às 08h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81912" y="2194560"/>
            <a:ext cx="8997696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759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S1-S2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2066544" cy="2377440"/>
          </a:xfrm>
          <a:prstGeom prst="roundRect">
            <a:avLst>
              <a:gd name="adj" fmla="val 2655"/>
            </a:avLst>
          </a:prstGeom>
          <a:solidFill>
            <a:srgbClr val="F4F6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31089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&amp; Aquisição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840480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Detalhamento, compra de CLPs, sensores de corrente e quadros.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57016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57016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98064" y="26060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S3-S4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98064" y="2971800"/>
            <a:ext cx="2066544" cy="2377440"/>
          </a:xfrm>
          <a:prstGeom prst="roundRect">
            <a:avLst>
              <a:gd name="adj" fmla="val 2655"/>
            </a:avLst>
          </a:prstGeom>
          <a:solidFill>
            <a:srgbClr val="F4F6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07792" y="31089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Bancada &amp; Programação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07792" y="3840480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de bancada, testes e firmware dos CLPs.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47488" y="26060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S5-S9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7488" y="2971800"/>
            <a:ext cx="2066544" cy="2377440"/>
          </a:xfrm>
          <a:prstGeom prst="roundRect">
            <a:avLst>
              <a:gd name="adj" fmla="val 2655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57216" y="31089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Física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57216" y="3840480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nos 38 climatizadores (7-8 máquinas/semana).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55864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5586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96912" y="26060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S10-S11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96912" y="2971800"/>
            <a:ext cx="2066544" cy="2377440"/>
          </a:xfrm>
          <a:prstGeom prst="roundRect">
            <a:avLst>
              <a:gd name="adj" fmla="val 2655"/>
            </a:avLst>
          </a:prstGeom>
          <a:solidFill>
            <a:srgbClr val="F4F6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06640" y="31089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Comissionamento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3840480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fino de setpoints e validação do rodízio 12h.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305288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0528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546336" y="260604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46336" y="2971800"/>
            <a:ext cx="2066544" cy="2377440"/>
          </a:xfrm>
          <a:prstGeom prst="roundRect">
            <a:avLst>
              <a:gd name="adj" fmla="val 2655"/>
            </a:avLst>
          </a:prstGeom>
          <a:solidFill>
            <a:srgbClr val="F4F6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56064" y="31089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&amp; Treinamento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656064" y="3840480"/>
            <a:ext cx="1847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da equipe, painel web e termo de aceite.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Frequentes &amp; Mitigação de Riscos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276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087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se o CLP falhar?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seletora manual/automática em cada quadro. O operador comuta em 1 segundo para o modo manual analógico de emergência.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2278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08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economia compromete o conforto térmico em dias quentes?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204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O CLP monitora o erro de temperatura; em dias de calor extremo ou alta lotação, a Escrava entra em auxílio imediato.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8280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709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comprova que a economia é real?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1206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já instalada nos pilotos (FC-17, FC-27, FC-28) comprovou a redução do acionamento síncrono e a conformidade do rodízio.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Shopping — Retrofit HVAC Inteligente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Conclusão, Parecer Técnico e Próximos Passos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tecnicamente maduro, financeiramente de altíssimo retorno e ambientalmente responsável.
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de R$ 301.000,00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retorno garantido em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16,6 meses.
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permanente de R$ 217.686,42/ano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 operacional de energia elétrica.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Recomendados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8587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da proposta executiva pela Diretoria e Conselho Gestor.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4531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do contrato de fornecimento e serviços.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4748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imediato da Fase 01 do cronograma executivo.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141B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Ar Condicionado — Engenharia Térmica &amp; Automação Industrial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Victor Hugo Mota de Almeida — Especialista em Eficiência Energética &amp; Automação Industrial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2026-08-26T19:20:24Z</dcterms:created>
  <dcterms:modified xsi:type="dcterms:W3CDTF">2026-08-26T19:20:24Z</dcterms:modified>
</cp:coreProperties>
</file>